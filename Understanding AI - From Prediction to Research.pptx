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26.png" ContentType="image/png"/>
  <Override PartName="/ppt/media/image125.png" ContentType="image/png"/>
  <Override PartName="/ppt/media/image124.png" ContentType="image/png"/>
  <Override PartName="/ppt/media/image123.png" ContentType="image/png"/>
  <Override PartName="/ppt/media/image122.png" ContentType="image/png"/>
  <Override PartName="/ppt/media/image121.png" ContentType="image/png"/>
  <Override PartName="/ppt/media/image116.png" ContentType="image/png"/>
  <Override PartName="/ppt/media/image115.png" ContentType="image/png"/>
  <Override PartName="/ppt/media/image114.png" ContentType="image/png"/>
  <Override PartName="/ppt/media/image113.png" ContentType="image/png"/>
  <Override PartName="/ppt/media/image112.png" ContentType="image/png"/>
  <Override PartName="/ppt/media/image111.png" ContentType="image/png"/>
  <Override PartName="/ppt/media/image106.png" ContentType="image/png"/>
  <Override PartName="/ppt/media/image105.png" ContentType="image/png"/>
  <Override PartName="/ppt/media/image104.png" ContentType="image/png"/>
  <Override PartName="/ppt/media/image103.png" ContentType="image/png"/>
  <Override PartName="/ppt/media/image102.png" ContentType="image/png"/>
  <Override PartName="/ppt/media/image101.png" ContentType="image/png"/>
  <Override PartName="/ppt/media/image99.png" ContentType="image/png"/>
  <Override PartName="/ppt/media/image98.png" ContentType="image/png"/>
  <Override PartName="/ppt/media/image97.png" ContentType="image/png"/>
  <Override PartName="/ppt/media/image29.png" ContentType="image/png"/>
  <Override PartName="/ppt/media/image96.png" ContentType="image/png"/>
  <Override PartName="/ppt/media/image28.png" ContentType="image/png"/>
  <Override PartName="/ppt/media/image95.png" ContentType="image/png"/>
  <Override PartName="/ppt/media/image27.png" ContentType="image/png"/>
  <Override PartName="/ppt/media/image89.png" ContentType="image/png"/>
  <Override PartName="/ppt/media/image88.png" ContentType="image/png"/>
  <Override PartName="/ppt/media/image87.png" ContentType="image/png"/>
  <Override PartName="/ppt/media/image19.png" ContentType="image/png"/>
  <Override PartName="/ppt/media/image79.png" ContentType="image/png"/>
  <Override PartName="/ppt/media/image78.png" ContentType="image/png"/>
  <Override PartName="/ppt/media/image77.png" ContentType="image/png"/>
  <Override PartName="/ppt/media/image76.png" ContentType="image/png"/>
  <Override PartName="/ppt/media/image75.png" ContentType="image/png"/>
  <Override PartName="/ppt/media/image74.png" ContentType="image/png"/>
  <Override PartName="/ppt/media/image73.png" ContentType="image/png"/>
  <Override PartName="/ppt/media/image72.png" ContentType="image/png"/>
  <Override PartName="/ppt/media/image71.png" ContentType="image/png"/>
  <Override PartName="/ppt/media/image70.png" ContentType="image/png"/>
  <Override PartName="/ppt/media/image120.png" ContentType="image/png"/>
  <Override PartName="/ppt/media/image69.png" ContentType="image/png"/>
  <Override PartName="/ppt/media/image38.png" ContentType="image/png"/>
  <Override PartName="/ppt/media/image8.png" ContentType="image/png"/>
  <Override PartName="/ppt/media/image30.png" ContentType="image/png"/>
  <Override PartName="/ppt/media/image127.png" ContentType="image/png"/>
  <Override PartName="/ppt/media/image1.png" ContentType="image/png"/>
  <Override PartName="/ppt/media/image153.png" ContentType="image/png"/>
  <Override PartName="/ppt/media/image39.png" ContentType="image/png"/>
  <Override PartName="/ppt/media/image50.png" ContentType="image/png"/>
  <Override PartName="/ppt/media/image147.png" ContentType="image/png"/>
  <Override PartName="/ppt/media/image51.png" ContentType="image/png"/>
  <Override PartName="/ppt/media/image148.png" ContentType="image/png"/>
  <Override PartName="/ppt/media/image52.png" ContentType="image/png"/>
  <Override PartName="/ppt/media/image149.png" ContentType="image/png"/>
  <Override PartName="/ppt/media/image53.png" ContentType="image/png"/>
  <Override PartName="/ppt/media/image128.png" ContentType="image/png"/>
  <Override PartName="/ppt/media/image129.png" ContentType="image/png"/>
  <Override PartName="/ppt/media/image32.png" ContentType="image/png"/>
  <Override PartName="/ppt/media/image133.png" ContentType="image/png"/>
  <Override PartName="/ppt/media/image160.png" ContentType="image/png"/>
  <Override PartName="/ppt/media/image161.png" ContentType="image/png"/>
  <Override PartName="/ppt/media/image150.png" ContentType="image/png"/>
  <Override PartName="/ppt/media/image162.png" ContentType="image/png"/>
  <Override PartName="/ppt/media/image109.png" ContentType="image/png"/>
  <Override PartName="/ppt/media/image151.png" ContentType="image/png"/>
  <Override PartName="/ppt/media/image40.png" ContentType="image/png"/>
  <Override PartName="/ppt/media/image137.png" ContentType="image/png"/>
  <Override PartName="/ppt/media/image163.png" ContentType="image/png"/>
  <Override PartName="/ppt/media/image152.png" ContentType="image/png"/>
  <Override PartName="/ppt/media/image41.png" ContentType="image/png"/>
  <Override PartName="/ppt/media/image138.png" ContentType="image/png"/>
  <Override PartName="/ppt/media/image164.png" ContentType="image/png"/>
  <Override PartName="/ppt/media/image42.png" ContentType="image/png"/>
  <Override PartName="/ppt/media/image139.png" ContentType="image/png"/>
  <Override PartName="/ppt/media/image165.png" ContentType="image/png"/>
  <Override PartName="/ppt/media/image43.png" ContentType="image/png"/>
  <Override PartName="/ppt/media/image166.png" ContentType="image/png"/>
  <Override PartName="/ppt/media/image44.png" ContentType="image/png"/>
  <Override PartName="/ppt/media/image130.png" ContentType="image/png"/>
  <Override PartName="/ppt/media/image167.png" ContentType="image/png"/>
  <Override PartName="/ppt/media/image45.png" ContentType="image/png"/>
  <Override PartName="/ppt/media/image131.png" ContentType="image/png"/>
  <Override PartName="/ppt/media/image168.png" ContentType="image/png"/>
  <Override PartName="/ppt/media/image46.png" ContentType="image/png"/>
  <Override PartName="/ppt/media/image132.png" ContentType="image/png"/>
  <Override PartName="/ppt/media/image169.png" ContentType="image/png"/>
  <Override PartName="/ppt/media/image134.png" ContentType="image/png"/>
  <Override PartName="/ppt/media/image146.png" ContentType="image/png"/>
  <Override PartName="/ppt/media/image145.png" ContentType="image/png"/>
  <Override PartName="/ppt/media/image144.png" ContentType="image/png"/>
  <Override PartName="/ppt/media/image143.png" ContentType="image/png"/>
  <Override PartName="/ppt/media/image56.png" ContentType="image/png"/>
  <Override PartName="/ppt/media/image142.png" ContentType="image/png"/>
  <Override PartName="/ppt/media/image55.png" ContentType="image/png"/>
  <Override PartName="/ppt/media/image141.png" ContentType="image/png"/>
  <Override PartName="/ppt/media/image54.png" ContentType="image/png"/>
  <Override PartName="/ppt/media/image140.png" ContentType="image/png"/>
  <Override PartName="/ppt/media/image100.png" ContentType="image/png"/>
  <Override PartName="/ppt/media/image49.png" ContentType="image/png"/>
  <Override PartName="/ppt/media/image136.png" ContentType="image/png"/>
  <Override PartName="/ppt/media/image135.png" ContentType="image/png"/>
  <Override PartName="/ppt/media/image37.png" ContentType="image/png"/>
  <Override PartName="/ppt/media/image62.png" ContentType="image/png"/>
  <Override PartName="/ppt/media/image159.png" ContentType="image/png"/>
  <Override PartName="/ppt/media/image7.png" ContentType="image/png"/>
  <Override PartName="/ppt/media/image48.png" ContentType="image/png"/>
  <Override PartName="/ppt/media/image11.png" ContentType="image/png"/>
  <Override PartName="/ppt/media/image108.png" ContentType="image/png"/>
  <Override PartName="/ppt/media/image36.png" ContentType="image/png"/>
  <Override PartName="/ppt/media/image61.png" ContentType="image/png"/>
  <Override PartName="/ppt/media/image158.png" ContentType="image/png"/>
  <Override PartName="/ppt/media/image6.png" ContentType="image/png"/>
  <Override PartName="/ppt/media/image18.png" ContentType="image/png"/>
  <Override PartName="/ppt/media/image86.png" ContentType="image/png"/>
  <Override PartName="/ppt/media/image31.png" ContentType="image/png"/>
  <Override PartName="/ppt/media/image9.png" ContentType="image/png"/>
  <Override PartName="/ppt/media/image47.png" ContentType="image/png"/>
  <Override PartName="/ppt/media/image10.png" ContentType="image/png"/>
  <Override PartName="/ppt/media/image107.png" ContentType="image/png"/>
  <Override PartName="/ppt/media/image35.png" ContentType="image/png"/>
  <Override PartName="/ppt/media/image60.png" ContentType="image/png"/>
  <Override PartName="/ppt/media/image157.png" ContentType="image/png"/>
  <Override PartName="/ppt/media/image5.png" ContentType="image/png"/>
  <Override PartName="/ppt/media/image85.png" ContentType="image/png"/>
  <Override PartName="/ppt/media/image17.png" ContentType="image/png"/>
  <Override PartName="/ppt/media/image34.png" ContentType="image/png"/>
  <Override PartName="/ppt/media/image156.png" ContentType="image/png"/>
  <Override PartName="/ppt/media/image4.png" ContentType="image/png"/>
  <Override PartName="/ppt/media/image84.png" ContentType="image/png"/>
  <Override PartName="/ppt/media/image16.png" ContentType="image/png"/>
  <Override PartName="/ppt/media/image13.png" ContentType="image/png"/>
  <Override PartName="/ppt/media/image81.png" ContentType="image/png"/>
  <Override PartName="/ppt/media/image33.png" ContentType="image/png"/>
  <Override PartName="/ppt/media/image155.png" ContentType="image/png"/>
  <Override PartName="/ppt/media/image3.png" ContentType="image/png"/>
  <Override PartName="/ppt/media/image83.png" ContentType="image/png"/>
  <Override PartName="/ppt/media/image15.png" ContentType="image/png"/>
  <Override PartName="/ppt/media/image12.png" ContentType="image/png"/>
  <Override PartName="/ppt/media/image80.png" ContentType="image/png"/>
  <Override PartName="/ppt/media/image94.png" ContentType="image/png"/>
  <Override PartName="/ppt/media/image26.png" ContentType="image/png"/>
  <Override PartName="/ppt/media/image154.png" ContentType="image/png"/>
  <Override PartName="/ppt/media/image2.png" ContentType="image/png"/>
  <Override PartName="/ppt/media/image82.png" ContentType="image/png"/>
  <Override PartName="/ppt/media/image14.png" ContentType="image/png"/>
  <Override PartName="/ppt/media/image93.png" ContentType="image/png"/>
  <Override PartName="/ppt/media/image25.png" ContentType="image/png"/>
  <Override PartName="/ppt/media/image92.png" ContentType="image/png"/>
  <Override PartName="/ppt/media/image24.png" ContentType="image/png"/>
  <Override PartName="/ppt/media/image57.png" ContentType="image/png"/>
  <Override PartName="/ppt/media/image20.png" ContentType="image/png"/>
  <Override PartName="/ppt/media/image117.png" ContentType="image/png"/>
  <Override PartName="/ppt/media/image58.png" ContentType="image/png"/>
  <Override PartName="/ppt/media/image21.png" ContentType="image/png"/>
  <Override PartName="/ppt/media/image118.png" ContentType="image/png"/>
  <Override PartName="/ppt/media/image59.png" ContentType="image/png"/>
  <Override PartName="/ppt/media/image110.png" ContentType="image/png"/>
  <Override PartName="/ppt/media/image90.png" ContentType="image/png"/>
  <Override PartName="/ppt/media/image22.png" ContentType="image/png"/>
  <Override PartName="/ppt/media/image119.png" ContentType="image/png"/>
  <Override PartName="/ppt/media/image91.png" ContentType="image/png"/>
  <Override PartName="/ppt/media/image23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</a:t>
            </a:r>
            <a:r>
              <a:rPr b="0" lang="en-IN" sz="2000" spc="-1" strike="noStrike">
                <a:latin typeface="Arial"/>
              </a:rPr>
              <a:t>l</a:t>
            </a:r>
            <a:r>
              <a:rPr b="0" lang="en-IN" sz="2000" spc="-1" strike="noStrike">
                <a:latin typeface="Arial"/>
              </a:rPr>
              <a:t>i</a:t>
            </a:r>
            <a:r>
              <a:rPr b="0" lang="en-IN" sz="2000" spc="-1" strike="noStrike">
                <a:latin typeface="Arial"/>
              </a:rPr>
              <a:t>c</a:t>
            </a:r>
            <a:r>
              <a:rPr b="0" lang="en-IN" sz="2000" spc="-1" strike="noStrike">
                <a:latin typeface="Arial"/>
              </a:rPr>
              <a:t>k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d</a:t>
            </a:r>
            <a:r>
              <a:rPr b="0" lang="en-IN" sz="2000" spc="-1" strike="noStrike">
                <a:latin typeface="Arial"/>
              </a:rPr>
              <a:t>i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h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n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s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f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r</a:t>
            </a:r>
            <a:r>
              <a:rPr b="0" lang="en-IN" sz="2000" spc="-1" strike="noStrike">
                <a:latin typeface="Arial"/>
              </a:rPr>
              <a:t>m</a:t>
            </a:r>
            <a:r>
              <a:rPr b="0" lang="en-IN" sz="2000" spc="-1" strike="noStrike">
                <a:latin typeface="Arial"/>
              </a:rPr>
              <a:t>a</a:t>
            </a:r>
            <a:r>
              <a:rPr b="0" lang="en-IN" sz="2000" spc="-1" strike="noStrike">
                <a:latin typeface="Arial"/>
              </a:rPr>
              <a:t>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F211805-9312-4EB4-AE18-18E203A1673B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DA2774-0BAE-4125-89F3-F8B37BDD8D7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7E4827-0B55-4438-A0F8-36B1889CDA2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3F8FF9-7F95-4333-8749-2028626F069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D79E1EE-2EC5-4715-B7B3-BB6296625DA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9FF74B-9213-4378-8428-F68B0B66131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1FFEAB0-34E2-4614-9401-2413098D047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2E9407B-A8D6-4E86-A6AA-E7FFD11C761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93D87CB-95E0-4BAE-A675-0F93D677627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207DBDF-8122-4B3E-9A92-8E84E5A6E09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D8871A-5686-40BB-9D52-6919844A056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ic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k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di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tit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le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te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xt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4" Type="http://schemas.openxmlformats.org/officeDocument/2006/relationships/image" Target="../media/image48.png"/><Relationship Id="rId15" Type="http://schemas.openxmlformats.org/officeDocument/2006/relationships/image" Target="../media/image49.png"/><Relationship Id="rId16" Type="http://schemas.openxmlformats.org/officeDocument/2006/relationships/image" Target="../media/image50.png"/><Relationship Id="rId17" Type="http://schemas.openxmlformats.org/officeDocument/2006/relationships/image" Target="../media/image51.png"/><Relationship Id="rId18" Type="http://schemas.openxmlformats.org/officeDocument/2006/relationships/image" Target="../media/image52.png"/><Relationship Id="rId19" Type="http://schemas.openxmlformats.org/officeDocument/2006/relationships/image" Target="../media/image53.png"/><Relationship Id="rId20" Type="http://schemas.openxmlformats.org/officeDocument/2006/relationships/image" Target="../media/image54.png"/><Relationship Id="rId21" Type="http://schemas.openxmlformats.org/officeDocument/2006/relationships/image" Target="../media/image55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70.png"/><Relationship Id="rId16" Type="http://schemas.openxmlformats.org/officeDocument/2006/relationships/image" Target="../media/image71.png"/><Relationship Id="rId17" Type="http://schemas.openxmlformats.org/officeDocument/2006/relationships/image" Target="../media/image72.png"/><Relationship Id="rId18" Type="http://schemas.openxmlformats.org/officeDocument/2006/relationships/image" Target="../media/image73.png"/><Relationship Id="rId19" Type="http://schemas.openxmlformats.org/officeDocument/2006/relationships/image" Target="../media/image74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Relationship Id="rId15" Type="http://schemas.openxmlformats.org/officeDocument/2006/relationships/image" Target="../media/image89.png"/><Relationship Id="rId16" Type="http://schemas.openxmlformats.org/officeDocument/2006/relationships/image" Target="../media/image90.png"/><Relationship Id="rId17" Type="http://schemas.openxmlformats.org/officeDocument/2006/relationships/image" Target="../media/image91.png"/><Relationship Id="rId18" Type="http://schemas.openxmlformats.org/officeDocument/2006/relationships/image" Target="../media/image92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3.png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image" Target="../media/image108.png"/><Relationship Id="rId17" Type="http://schemas.openxmlformats.org/officeDocument/2006/relationships/image" Target="../media/image109.png"/><Relationship Id="rId18" Type="http://schemas.openxmlformats.org/officeDocument/2006/relationships/image" Target="../media/image110.png"/><Relationship Id="rId19" Type="http://schemas.openxmlformats.org/officeDocument/2006/relationships/image" Target="../media/image111.png"/><Relationship Id="rId20" Type="http://schemas.openxmlformats.org/officeDocument/2006/relationships/image" Target="../media/image112.png"/><Relationship Id="rId21" Type="http://schemas.openxmlformats.org/officeDocument/2006/relationships/image" Target="../media/image113.png"/><Relationship Id="rId22" Type="http://schemas.openxmlformats.org/officeDocument/2006/relationships/image" Target="../media/image114.png"/><Relationship Id="rId23" Type="http://schemas.openxmlformats.org/officeDocument/2006/relationships/image" Target="../media/image115.png"/><Relationship Id="rId24" Type="http://schemas.openxmlformats.org/officeDocument/2006/relationships/image" Target="../media/image116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7.png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27.png"/><Relationship Id="rId12" Type="http://schemas.openxmlformats.org/officeDocument/2006/relationships/image" Target="../media/image128.png"/><Relationship Id="rId13" Type="http://schemas.openxmlformats.org/officeDocument/2006/relationships/image" Target="../media/image129.png"/><Relationship Id="rId14" Type="http://schemas.openxmlformats.org/officeDocument/2006/relationships/image" Target="../media/image130.png"/><Relationship Id="rId15" Type="http://schemas.openxmlformats.org/officeDocument/2006/relationships/image" Target="../media/image131.png"/><Relationship Id="rId16" Type="http://schemas.openxmlformats.org/officeDocument/2006/relationships/image" Target="../media/image132.png"/><Relationship Id="rId17" Type="http://schemas.openxmlformats.org/officeDocument/2006/relationships/image" Target="../media/image133.png"/><Relationship Id="rId18" Type="http://schemas.openxmlformats.org/officeDocument/2006/relationships/image" Target="../media/image134.png"/><Relationship Id="rId19" Type="http://schemas.openxmlformats.org/officeDocument/2006/relationships/image" Target="../media/image135.png"/><Relationship Id="rId20" Type="http://schemas.openxmlformats.org/officeDocument/2006/relationships/image" Target="../media/image136.png"/><Relationship Id="rId21" Type="http://schemas.openxmlformats.org/officeDocument/2006/relationships/image" Target="../media/image137.png"/><Relationship Id="rId22" Type="http://schemas.openxmlformats.org/officeDocument/2006/relationships/image" Target="../media/image138.png"/><Relationship Id="rId23" Type="http://schemas.openxmlformats.org/officeDocument/2006/relationships/image" Target="../media/image139.png"/><Relationship Id="rId24" Type="http://schemas.openxmlformats.org/officeDocument/2006/relationships/image" Target="../media/image140.png"/><Relationship Id="rId25" Type="http://schemas.openxmlformats.org/officeDocument/2006/relationships/image" Target="../media/image141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2.png"/><Relationship Id="rId2" Type="http://schemas.openxmlformats.org/officeDocument/2006/relationships/image" Target="../media/image143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149.png"/><Relationship Id="rId9" Type="http://schemas.openxmlformats.org/officeDocument/2006/relationships/image" Target="../media/image150.png"/><Relationship Id="rId10" Type="http://schemas.openxmlformats.org/officeDocument/2006/relationships/image" Target="../media/image151.png"/><Relationship Id="rId11" Type="http://schemas.openxmlformats.org/officeDocument/2006/relationships/image" Target="../media/image152.png"/><Relationship Id="rId12" Type="http://schemas.openxmlformats.org/officeDocument/2006/relationships/image" Target="../media/image153.png"/><Relationship Id="rId13" Type="http://schemas.openxmlformats.org/officeDocument/2006/relationships/image" Target="../media/image154.png"/><Relationship Id="rId14" Type="http://schemas.openxmlformats.org/officeDocument/2006/relationships/image" Target="../media/image155.png"/><Relationship Id="rId15" Type="http://schemas.openxmlformats.org/officeDocument/2006/relationships/image" Target="../media/image156.png"/><Relationship Id="rId16" Type="http://schemas.openxmlformats.org/officeDocument/2006/relationships/image" Target="../media/image157.png"/><Relationship Id="rId17" Type="http://schemas.openxmlformats.org/officeDocument/2006/relationships/image" Target="../media/image158.png"/><Relationship Id="rId18" Type="http://schemas.openxmlformats.org/officeDocument/2006/relationships/image" Target="../media/image159.png"/><Relationship Id="rId19" Type="http://schemas.openxmlformats.org/officeDocument/2006/relationships/image" Target="../media/image160.png"/><Relationship Id="rId20" Type="http://schemas.openxmlformats.org/officeDocument/2006/relationships/image" Target="../media/image161.png"/><Relationship Id="rId21" Type="http://schemas.openxmlformats.org/officeDocument/2006/relationships/image" Target="../media/image162.png"/><Relationship Id="rId22" Type="http://schemas.openxmlformats.org/officeDocument/2006/relationships/image" Target="../media/image163.png"/><Relationship Id="rId23" Type="http://schemas.openxmlformats.org/officeDocument/2006/relationships/image" Target="../media/image164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5.png"/><Relationship Id="rId2" Type="http://schemas.openxmlformats.org/officeDocument/2006/relationships/image" Target="../media/image166.png"/><Relationship Id="rId3" Type="http://schemas.openxmlformats.org/officeDocument/2006/relationships/image" Target="../media/image167.png"/><Relationship Id="rId4" Type="http://schemas.openxmlformats.org/officeDocument/2006/relationships/image" Target="../media/image168.png"/><Relationship Id="rId5" Type="http://schemas.openxmlformats.org/officeDocument/2006/relationships/image" Target="../media/image16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5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6" name="Image 2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7" name="Image 3" descr="preencoded.png"/>
          <p:cNvPicPr/>
          <p:nvPr/>
        </p:nvPicPr>
        <p:blipFill>
          <a:blip r:embed="rId4"/>
          <a:stretch/>
        </p:blipFill>
        <p:spPr>
          <a:xfrm rot="21000000">
            <a:off x="409320" y="1933560"/>
            <a:ext cx="4990680" cy="4924080"/>
          </a:xfrm>
          <a:prstGeom prst="rect">
            <a:avLst/>
          </a:prstGeom>
          <a:ln w="0">
            <a:noFill/>
          </a:ln>
        </p:spPr>
      </p:pic>
      <p:pic>
        <p:nvPicPr>
          <p:cNvPr id="48" name="Image 4" descr="preencoded.png"/>
          <p:cNvPicPr/>
          <p:nvPr/>
        </p:nvPicPr>
        <p:blipFill>
          <a:blip r:embed="rId5"/>
          <a:stretch/>
        </p:blipFill>
        <p:spPr>
          <a:xfrm rot="20640000">
            <a:off x="7439040" y="828360"/>
            <a:ext cx="4752720" cy="5200200"/>
          </a:xfrm>
          <a:prstGeom prst="rect">
            <a:avLst/>
          </a:prstGeom>
          <a:ln w="0">
            <a:noFill/>
          </a:ln>
        </p:spPr>
      </p:pic>
      <p:pic>
        <p:nvPicPr>
          <p:cNvPr id="49" name="Image 5" descr="preencoded.png"/>
          <p:cNvPicPr/>
          <p:nvPr/>
        </p:nvPicPr>
        <p:blipFill>
          <a:blip r:embed="rId6"/>
          <a:stretch/>
        </p:blipFill>
        <p:spPr>
          <a:xfrm>
            <a:off x="1905120" y="3648240"/>
            <a:ext cx="1771200" cy="666360"/>
          </a:xfrm>
          <a:prstGeom prst="rect">
            <a:avLst/>
          </a:prstGeom>
          <a:ln w="0">
            <a:noFill/>
          </a:ln>
        </p:spPr>
      </p:pic>
      <p:pic>
        <p:nvPicPr>
          <p:cNvPr id="50" name="Image 6" descr="preencoded.png"/>
          <p:cNvPicPr/>
          <p:nvPr/>
        </p:nvPicPr>
        <p:blipFill>
          <a:blip r:embed="rId7"/>
          <a:stretch/>
        </p:blipFill>
        <p:spPr>
          <a:xfrm>
            <a:off x="2152800" y="3819600"/>
            <a:ext cx="323640" cy="32364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457200" y="2362320"/>
            <a:ext cx="112773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0" spc="-1" strike="noStrike">
                <a:solidFill>
                  <a:srgbClr val="ffffff"/>
                </a:solidFill>
                <a:latin typeface="Arial"/>
                <a:ea typeface="Arial"/>
              </a:rPr>
              <a:t>Understanding</a:t>
            </a:r>
            <a:endParaRPr b="0" lang="en-IN" sz="8500" spc="-1" strike="noStrike"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57200" y="3467160"/>
            <a:ext cx="115200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0" spc="-1" strike="noStrike">
                <a:solidFill>
                  <a:srgbClr val="ffffff"/>
                </a:solidFill>
                <a:latin typeface="Arial"/>
                <a:ea typeface="Arial"/>
              </a:rPr>
              <a:t>AI</a:t>
            </a:r>
            <a:endParaRPr b="0" lang="en-IN" sz="8500" spc="-1" strike="noStrike">
              <a:latin typeface="Arial"/>
            </a:endParaRPr>
          </a:p>
        </p:txBody>
      </p:sp>
      <p:pic>
        <p:nvPicPr>
          <p:cNvPr id="53" name="Image 7" descr="preencoded.png"/>
          <p:cNvPicPr/>
          <p:nvPr/>
        </p:nvPicPr>
        <p:blipFill>
          <a:blip r:embed="rId8"/>
          <a:stretch/>
        </p:blipFill>
        <p:spPr>
          <a:xfrm>
            <a:off x="2238480" y="3905280"/>
            <a:ext cx="151920" cy="151920"/>
          </a:xfrm>
          <a:prstGeom prst="rect">
            <a:avLst/>
          </a:prstGeom>
          <a:ln w="0">
            <a:noFill/>
          </a:ln>
        </p:spPr>
      </p:pic>
      <p:sp>
        <p:nvSpPr>
          <p:cNvPr id="54" name="Text 2"/>
          <p:cNvSpPr/>
          <p:nvPr/>
        </p:nvSpPr>
        <p:spPr>
          <a:xfrm>
            <a:off x="2581200" y="3848040"/>
            <a:ext cx="837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onsolas"/>
                <a:ea typeface="Consolas"/>
              </a:rPr>
              <a:t>Training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55" name="Image 8" descr="preencoded.png"/>
          <p:cNvPicPr/>
          <p:nvPr/>
        </p:nvPicPr>
        <p:blipFill>
          <a:blip r:embed="rId9"/>
          <a:stretch/>
        </p:blipFill>
        <p:spPr>
          <a:xfrm>
            <a:off x="4943520" y="6248520"/>
            <a:ext cx="1238040" cy="37800"/>
          </a:xfrm>
          <a:prstGeom prst="rect">
            <a:avLst/>
          </a:prstGeom>
          <a:ln w="0">
            <a:noFill/>
          </a:ln>
        </p:spPr>
      </p:pic>
      <p:sp>
        <p:nvSpPr>
          <p:cNvPr id="56" name="Text 3"/>
          <p:cNvSpPr/>
          <p:nvPr/>
        </p:nvSpPr>
        <p:spPr>
          <a:xfrm>
            <a:off x="457200" y="6134040"/>
            <a:ext cx="4190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b6b6b6"/>
                </a:solidFill>
                <a:latin typeface="Consolas"/>
                <a:ea typeface="Consolas"/>
              </a:rPr>
              <a:t>From Prediction to Research Applications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9429840" y="457200"/>
            <a:ext cx="2304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Internal training deck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9429840" y="762120"/>
            <a:ext cx="2304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b6b6b6"/>
                </a:solidFill>
                <a:latin typeface="Consolas"/>
                <a:ea typeface="Consolas"/>
              </a:rPr>
              <a:t>2026-03-14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60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61" name="Image 2" descr="preencoded.png"/>
          <p:cNvPicPr/>
          <p:nvPr/>
        </p:nvPicPr>
        <p:blipFill>
          <a:blip r:embed="rId3"/>
          <a:stretch/>
        </p:blipFill>
        <p:spPr>
          <a:xfrm>
            <a:off x="752400" y="2657520"/>
            <a:ext cx="1542600" cy="447480"/>
          </a:xfrm>
          <a:prstGeom prst="rect">
            <a:avLst/>
          </a:prstGeom>
          <a:ln w="0">
            <a:noFill/>
          </a:ln>
        </p:spPr>
      </p:pic>
      <p:pic>
        <p:nvPicPr>
          <p:cNvPr id="62" name="Image 3" descr="preencoded.png"/>
          <p:cNvPicPr/>
          <p:nvPr/>
        </p:nvPicPr>
        <p:blipFill>
          <a:blip r:embed="rId4"/>
          <a:stretch/>
        </p:blipFill>
        <p:spPr>
          <a:xfrm>
            <a:off x="752400" y="4229280"/>
            <a:ext cx="933120" cy="104400"/>
          </a:xfrm>
          <a:prstGeom prst="rect">
            <a:avLst/>
          </a:prstGeom>
          <a:ln w="0">
            <a:noFill/>
          </a:ln>
        </p:spPr>
      </p:pic>
      <p:pic>
        <p:nvPicPr>
          <p:cNvPr id="63" name="Image 4" descr="preencoded.png"/>
          <p:cNvPicPr/>
          <p:nvPr/>
        </p:nvPicPr>
        <p:blipFill>
          <a:blip r:embed="rId5"/>
          <a:stretch/>
        </p:blipFill>
        <p:spPr>
          <a:xfrm>
            <a:off x="5172120" y="1419120"/>
            <a:ext cx="552240" cy="561600"/>
          </a:xfrm>
          <a:prstGeom prst="rect">
            <a:avLst/>
          </a:prstGeom>
          <a:ln w="0">
            <a:noFill/>
          </a:ln>
        </p:spPr>
      </p:pic>
      <p:pic>
        <p:nvPicPr>
          <p:cNvPr id="64" name="Image 5" descr="preencoded.png"/>
          <p:cNvPicPr/>
          <p:nvPr/>
        </p:nvPicPr>
        <p:blipFill>
          <a:blip r:embed="rId6"/>
          <a:stretch/>
        </p:blipFill>
        <p:spPr>
          <a:xfrm>
            <a:off x="8448840" y="1419120"/>
            <a:ext cx="552240" cy="561600"/>
          </a:xfrm>
          <a:prstGeom prst="rect">
            <a:avLst/>
          </a:prstGeom>
          <a:ln w="0">
            <a:noFill/>
          </a:ln>
        </p:spPr>
      </p:pic>
      <p:pic>
        <p:nvPicPr>
          <p:cNvPr id="65" name="Image 6" descr="preencoded.png"/>
          <p:cNvPicPr/>
          <p:nvPr/>
        </p:nvPicPr>
        <p:blipFill>
          <a:blip r:embed="rId7"/>
          <a:stretch/>
        </p:blipFill>
        <p:spPr>
          <a:xfrm>
            <a:off x="5172120" y="2476440"/>
            <a:ext cx="552240" cy="561600"/>
          </a:xfrm>
          <a:prstGeom prst="rect">
            <a:avLst/>
          </a:prstGeom>
          <a:ln w="0">
            <a:noFill/>
          </a:ln>
        </p:spPr>
      </p:pic>
      <p:pic>
        <p:nvPicPr>
          <p:cNvPr id="66" name="Image 7" descr="preencoded.png"/>
          <p:cNvPicPr/>
          <p:nvPr/>
        </p:nvPicPr>
        <p:blipFill>
          <a:blip r:embed="rId8"/>
          <a:stretch/>
        </p:blipFill>
        <p:spPr>
          <a:xfrm>
            <a:off x="8448840" y="2476440"/>
            <a:ext cx="552240" cy="561600"/>
          </a:xfrm>
          <a:prstGeom prst="rect">
            <a:avLst/>
          </a:prstGeom>
          <a:ln w="0">
            <a:noFill/>
          </a:ln>
        </p:spPr>
      </p:pic>
      <p:pic>
        <p:nvPicPr>
          <p:cNvPr id="67" name="Image 8" descr="preencoded.png"/>
          <p:cNvPicPr/>
          <p:nvPr/>
        </p:nvPicPr>
        <p:blipFill>
          <a:blip r:embed="rId9"/>
          <a:stretch/>
        </p:blipFill>
        <p:spPr>
          <a:xfrm>
            <a:off x="5172120" y="3743280"/>
            <a:ext cx="552240" cy="561600"/>
          </a:xfrm>
          <a:prstGeom prst="rect">
            <a:avLst/>
          </a:prstGeom>
          <a:ln w="0">
            <a:noFill/>
          </a:ln>
        </p:spPr>
      </p:pic>
      <p:pic>
        <p:nvPicPr>
          <p:cNvPr id="68" name="Image 9" descr="preencoded.png"/>
          <p:cNvPicPr/>
          <p:nvPr/>
        </p:nvPicPr>
        <p:blipFill>
          <a:blip r:embed="rId10"/>
          <a:stretch/>
        </p:blipFill>
        <p:spPr>
          <a:xfrm>
            <a:off x="8448840" y="3743280"/>
            <a:ext cx="552240" cy="561600"/>
          </a:xfrm>
          <a:prstGeom prst="rect">
            <a:avLst/>
          </a:prstGeom>
          <a:ln w="0">
            <a:noFill/>
          </a:ln>
        </p:spPr>
      </p:pic>
      <p:pic>
        <p:nvPicPr>
          <p:cNvPr id="69" name="Image 10" descr="preencoded.png"/>
          <p:cNvPicPr/>
          <p:nvPr/>
        </p:nvPicPr>
        <p:blipFill>
          <a:blip r:embed="rId11"/>
          <a:stretch/>
        </p:blipFill>
        <p:spPr>
          <a:xfrm>
            <a:off x="5172120" y="4791240"/>
            <a:ext cx="552240" cy="561600"/>
          </a:xfrm>
          <a:prstGeom prst="rect">
            <a:avLst/>
          </a:prstGeom>
          <a:ln w="0">
            <a:noFill/>
          </a:ln>
        </p:spPr>
      </p:pic>
      <p:sp>
        <p:nvSpPr>
          <p:cNvPr id="70" name="Text 0"/>
          <p:cNvSpPr/>
          <p:nvPr/>
        </p:nvSpPr>
        <p:spPr>
          <a:xfrm>
            <a:off x="1066680" y="27680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Consolas"/>
                <a:ea typeface="Consolas"/>
              </a:rPr>
              <a:t>CONTENTS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762120" y="3320280"/>
            <a:ext cx="3809520" cy="6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100" spc="-1" strike="noStrike">
                <a:solidFill>
                  <a:srgbClr val="ffffff"/>
                </a:solidFill>
                <a:latin typeface="Arial"/>
                <a:ea typeface="Arial"/>
              </a:rPr>
              <a:t>Contents</a:t>
            </a:r>
            <a:endParaRPr b="0" lang="en-IN" sz="5100" spc="-1" strike="noStrike"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5334120" y="1569240"/>
            <a:ext cx="228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nsolas"/>
                <a:ea typeface="Consolas"/>
              </a:rPr>
              <a:t>01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5181480" y="1969200"/>
            <a:ext cx="29714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What is AI? (Prediction)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8610480" y="1569240"/>
            <a:ext cx="228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nsolas"/>
                <a:ea typeface="Consolas"/>
              </a:rPr>
              <a:t>02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8458200" y="1969200"/>
            <a:ext cx="29714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How AI Predicts (Tokens)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5334120" y="2621880"/>
            <a:ext cx="228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nsolas"/>
                <a:ea typeface="Consolas"/>
              </a:rPr>
              <a:t>03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5181480" y="3021840"/>
            <a:ext cx="29714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AI Memory (Context Window)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8610480" y="2621880"/>
            <a:ext cx="228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nsolas"/>
                <a:ea typeface="Consolas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8458200" y="3021840"/>
            <a:ext cx="29714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How to Talk to AI (Prompting)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5334120" y="3888720"/>
            <a:ext cx="228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nsolas"/>
                <a:ea typeface="Consolas"/>
              </a:rPr>
              <a:t>05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5181480" y="4288680"/>
            <a:ext cx="29714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AI Tools for Research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8610480" y="3888720"/>
            <a:ext cx="228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nsolas"/>
                <a:ea typeface="Consolas"/>
              </a:rPr>
              <a:t>06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8458200" y="4288680"/>
            <a:ext cx="29714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AI in Our Company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5334120" y="4941000"/>
            <a:ext cx="228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nsolas"/>
                <a:ea typeface="Consolas"/>
              </a:rPr>
              <a:t>07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5181480" y="5341320"/>
            <a:ext cx="29714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Future of Research with AI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762120" y="6381720"/>
            <a:ext cx="1066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Consolas"/>
                <a:ea typeface="Consolas"/>
              </a:rPr>
              <a:t>02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8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9" name="Image 2" descr="preencoded.png"/>
          <p:cNvPicPr/>
          <p:nvPr/>
        </p:nvPicPr>
        <p:blipFill>
          <a:blip r:embed="rId3"/>
          <a:stretch/>
        </p:blipFill>
        <p:spPr>
          <a:xfrm>
            <a:off x="7677000" y="961920"/>
            <a:ext cx="780840" cy="56880"/>
          </a:xfrm>
          <a:prstGeom prst="rect">
            <a:avLst/>
          </a:prstGeom>
          <a:ln w="0">
            <a:noFill/>
          </a:ln>
        </p:spPr>
      </p:pic>
      <p:pic>
        <p:nvPicPr>
          <p:cNvPr id="90" name="Image 3" descr="preencoded.png"/>
          <p:cNvPicPr/>
          <p:nvPr/>
        </p:nvPicPr>
        <p:blipFill>
          <a:blip r:embed="rId4"/>
          <a:stretch/>
        </p:blipFill>
        <p:spPr>
          <a:xfrm>
            <a:off x="752400" y="3228840"/>
            <a:ext cx="95040" cy="95040"/>
          </a:xfrm>
          <a:prstGeom prst="rect">
            <a:avLst/>
          </a:prstGeom>
          <a:ln w="0">
            <a:noFill/>
          </a:ln>
        </p:spPr>
      </p:pic>
      <p:pic>
        <p:nvPicPr>
          <p:cNvPr id="91" name="Image 4" descr="preencoded.png"/>
          <p:cNvPicPr/>
          <p:nvPr/>
        </p:nvPicPr>
        <p:blipFill>
          <a:blip r:embed="rId5"/>
          <a:stretch/>
        </p:blipFill>
        <p:spPr>
          <a:xfrm>
            <a:off x="752400" y="3724200"/>
            <a:ext cx="95040" cy="95040"/>
          </a:xfrm>
          <a:prstGeom prst="rect">
            <a:avLst/>
          </a:prstGeom>
          <a:ln w="0">
            <a:noFill/>
          </a:ln>
        </p:spPr>
      </p:pic>
      <p:pic>
        <p:nvPicPr>
          <p:cNvPr id="92" name="Image 5" descr="preencoded.png"/>
          <p:cNvPicPr/>
          <p:nvPr/>
        </p:nvPicPr>
        <p:blipFill>
          <a:blip r:embed="rId6"/>
          <a:stretch/>
        </p:blipFill>
        <p:spPr>
          <a:xfrm>
            <a:off x="752400" y="4448160"/>
            <a:ext cx="5124240" cy="1618920"/>
          </a:xfrm>
          <a:prstGeom prst="rect">
            <a:avLst/>
          </a:prstGeom>
          <a:ln w="0">
            <a:noFill/>
          </a:ln>
        </p:spPr>
      </p:pic>
      <p:pic>
        <p:nvPicPr>
          <p:cNvPr id="93" name="Image 6" descr="preencoded.png"/>
          <p:cNvPicPr/>
          <p:nvPr/>
        </p:nvPicPr>
        <p:blipFill>
          <a:blip r:embed="rId7"/>
          <a:stretch/>
        </p:blipFill>
        <p:spPr>
          <a:xfrm>
            <a:off x="6315120" y="1743120"/>
            <a:ext cx="5133600" cy="4314600"/>
          </a:xfrm>
          <a:prstGeom prst="rect">
            <a:avLst/>
          </a:prstGeom>
          <a:ln w="0">
            <a:noFill/>
          </a:ln>
        </p:spPr>
      </p:pic>
      <p:sp>
        <p:nvSpPr>
          <p:cNvPr id="94" name="Text 0"/>
          <p:cNvSpPr/>
          <p:nvPr/>
        </p:nvSpPr>
        <p:spPr>
          <a:xfrm>
            <a:off x="762120" y="762120"/>
            <a:ext cx="669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What is Artificial Intelligence?</a:t>
            </a:r>
            <a:endParaRPr b="0" lang="en-IN" sz="3400" spc="-1" strike="noStrike"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762120" y="1695600"/>
            <a:ext cx="510516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c1e328"/>
                </a:solidFill>
                <a:latin typeface="Consolas"/>
                <a:ea typeface="Consolas"/>
              </a:rPr>
              <a:t>AI predicts what comes next based on patterns it learned from data.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762120" y="2743200"/>
            <a:ext cx="51051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How it mirrors humans: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762120" y="3314880"/>
            <a:ext cx="51051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b6b6b6"/>
                </a:solidFill>
                <a:latin typeface="Arial"/>
                <a:ea typeface="Arial"/>
              </a:rPr>
              <a:t>We consider context before speaking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762120" y="3809880"/>
            <a:ext cx="51051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b6b6b6"/>
                </a:solidFill>
                <a:latin typeface="Arial"/>
                <a:ea typeface="Arial"/>
              </a:rPr>
              <a:t>We choose the most likely next word/action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1000080" y="4695840"/>
            <a:ext cx="4628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b6b6b6"/>
                </a:solidFill>
                <a:latin typeface="Consolas"/>
                <a:ea typeface="Consolas"/>
              </a:rPr>
              <a:t>Prediction Process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1000080" y="5048280"/>
            <a:ext cx="1714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“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Hi, how are …”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01" name="Image 7" descr="preencoded.png"/>
          <p:cNvPicPr/>
          <p:nvPr/>
        </p:nvPicPr>
        <p:blipFill>
          <a:blip r:embed="rId8"/>
          <a:stretch/>
        </p:blipFill>
        <p:spPr>
          <a:xfrm>
            <a:off x="2857680" y="5076720"/>
            <a:ext cx="190080" cy="209160"/>
          </a:xfrm>
          <a:prstGeom prst="rect">
            <a:avLst/>
          </a:prstGeom>
          <a:ln w="0">
            <a:noFill/>
          </a:ln>
        </p:spPr>
      </p:pic>
      <p:pic>
        <p:nvPicPr>
          <p:cNvPr id="102" name="Image 8" descr="preencoded.png"/>
          <p:cNvPicPr/>
          <p:nvPr/>
        </p:nvPicPr>
        <p:blipFill>
          <a:blip r:embed="rId9"/>
          <a:stretch/>
        </p:blipFill>
        <p:spPr>
          <a:xfrm>
            <a:off x="3181320" y="4991040"/>
            <a:ext cx="590040" cy="380520"/>
          </a:xfrm>
          <a:prstGeom prst="rect">
            <a:avLst/>
          </a:prstGeom>
          <a:ln w="0">
            <a:noFill/>
          </a:ln>
        </p:spPr>
      </p:pic>
      <p:sp>
        <p:nvSpPr>
          <p:cNvPr id="103" name="Text 7"/>
          <p:cNvSpPr/>
          <p:nvPr/>
        </p:nvSpPr>
        <p:spPr>
          <a:xfrm>
            <a:off x="3305160" y="5038560"/>
            <a:ext cx="3427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highlight>
                  <a:srgbClr val="c1e328"/>
                </a:highlight>
                <a:latin typeface="Consolas"/>
                <a:ea typeface="Consolas"/>
              </a:rPr>
              <a:t>you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04" name="Image 9" descr="preencoded.png"/>
          <p:cNvPicPr/>
          <p:nvPr/>
        </p:nvPicPr>
        <p:blipFill>
          <a:blip r:embed="rId10"/>
          <a:stretch/>
        </p:blipFill>
        <p:spPr>
          <a:xfrm>
            <a:off x="3828960" y="4991040"/>
            <a:ext cx="837720" cy="380520"/>
          </a:xfrm>
          <a:prstGeom prst="rect">
            <a:avLst/>
          </a:prstGeom>
          <a:ln w="0">
            <a:noFill/>
          </a:ln>
        </p:spPr>
      </p:pic>
      <p:sp>
        <p:nvSpPr>
          <p:cNvPr id="105" name="Text 8"/>
          <p:cNvSpPr/>
          <p:nvPr/>
        </p:nvSpPr>
        <p:spPr>
          <a:xfrm>
            <a:off x="3952800" y="5038560"/>
            <a:ext cx="590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66666"/>
                </a:solidFill>
                <a:latin typeface="Consolas"/>
                <a:ea typeface="Consolas"/>
              </a:rPr>
              <a:t>doing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06" name="Image 10" descr="preencoded.png"/>
          <p:cNvPicPr/>
          <p:nvPr/>
        </p:nvPicPr>
        <p:blipFill>
          <a:blip r:embed="rId11"/>
          <a:stretch/>
        </p:blipFill>
        <p:spPr>
          <a:xfrm>
            <a:off x="4724280" y="4991040"/>
            <a:ext cx="837720" cy="380520"/>
          </a:xfrm>
          <a:prstGeom prst="rect">
            <a:avLst/>
          </a:prstGeom>
          <a:ln w="0">
            <a:noFill/>
          </a:ln>
        </p:spPr>
      </p:pic>
      <p:sp>
        <p:nvSpPr>
          <p:cNvPr id="107" name="Text 9"/>
          <p:cNvSpPr/>
          <p:nvPr/>
        </p:nvSpPr>
        <p:spPr>
          <a:xfrm>
            <a:off x="4848120" y="5038560"/>
            <a:ext cx="590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66666"/>
                </a:solidFill>
                <a:latin typeface="Consolas"/>
                <a:ea typeface="Consolas"/>
              </a:rPr>
              <a:t>today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1000080" y="5591160"/>
            <a:ext cx="533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888888"/>
                </a:solidFill>
                <a:latin typeface="Consolas"/>
                <a:ea typeface="Consolas"/>
              </a:rPr>
              <a:t>Sentence</a:t>
            </a:r>
            <a:endParaRPr b="0" lang="en-IN" sz="800" spc="-1" strike="noStrike">
              <a:latin typeface="Arial"/>
            </a:endParaRPr>
          </a:p>
        </p:txBody>
      </p:sp>
      <p:pic>
        <p:nvPicPr>
          <p:cNvPr id="109" name="Image 11" descr="preencoded.png"/>
          <p:cNvPicPr/>
          <p:nvPr/>
        </p:nvPicPr>
        <p:blipFill>
          <a:blip r:embed="rId12"/>
          <a:stretch/>
        </p:blipFill>
        <p:spPr>
          <a:xfrm>
            <a:off x="1600200" y="5610240"/>
            <a:ext cx="75960" cy="114120"/>
          </a:xfrm>
          <a:prstGeom prst="rect">
            <a:avLst/>
          </a:prstGeom>
          <a:ln w="0">
            <a:noFill/>
          </a:ln>
        </p:spPr>
      </p:pic>
      <p:sp>
        <p:nvSpPr>
          <p:cNvPr id="110" name="Text 11"/>
          <p:cNvSpPr/>
          <p:nvPr/>
        </p:nvSpPr>
        <p:spPr>
          <a:xfrm>
            <a:off x="1743120" y="5514840"/>
            <a:ext cx="1046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888888"/>
                </a:solidFill>
                <a:latin typeface="Consolas"/>
                <a:ea typeface="Consolas"/>
              </a:rPr>
              <a:t>Model “thinking”</a:t>
            </a:r>
            <a:endParaRPr b="0" lang="en-IN" sz="800" spc="-1" strike="noStrike">
              <a:latin typeface="Arial"/>
            </a:endParaRPr>
          </a:p>
        </p:txBody>
      </p:sp>
      <p:pic>
        <p:nvPicPr>
          <p:cNvPr id="111" name="Image 12" descr="preencoded.png"/>
          <p:cNvPicPr/>
          <p:nvPr/>
        </p:nvPicPr>
        <p:blipFill>
          <a:blip r:embed="rId13"/>
          <a:stretch/>
        </p:blipFill>
        <p:spPr>
          <a:xfrm>
            <a:off x="2847960" y="5610240"/>
            <a:ext cx="85320" cy="114120"/>
          </a:xfrm>
          <a:prstGeom prst="rect">
            <a:avLst/>
          </a:prstGeom>
          <a:ln w="0">
            <a:noFill/>
          </a:ln>
        </p:spPr>
      </p:pic>
      <p:sp>
        <p:nvSpPr>
          <p:cNvPr id="112" name="Text 12"/>
          <p:cNvSpPr/>
          <p:nvPr/>
        </p:nvSpPr>
        <p:spPr>
          <a:xfrm>
            <a:off x="2999160" y="5514840"/>
            <a:ext cx="13078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888888"/>
                </a:solidFill>
                <a:latin typeface="Consolas"/>
                <a:ea typeface="Consolas"/>
              </a:rPr>
              <a:t>Candidate next words</a:t>
            </a:r>
            <a:endParaRPr b="0" lang="en-IN" sz="800" spc="-1" strike="noStrike">
              <a:latin typeface="Arial"/>
            </a:endParaRPr>
          </a:p>
        </p:txBody>
      </p:sp>
      <p:pic>
        <p:nvPicPr>
          <p:cNvPr id="113" name="Image 13" descr="preencoded.png"/>
          <p:cNvPicPr/>
          <p:nvPr/>
        </p:nvPicPr>
        <p:blipFill>
          <a:blip r:embed="rId14"/>
          <a:stretch/>
        </p:blipFill>
        <p:spPr>
          <a:xfrm>
            <a:off x="4371840" y="5610240"/>
            <a:ext cx="85320" cy="114120"/>
          </a:xfrm>
          <a:prstGeom prst="rect">
            <a:avLst/>
          </a:prstGeom>
          <a:ln w="0">
            <a:noFill/>
          </a:ln>
        </p:spPr>
      </p:pic>
      <p:sp>
        <p:nvSpPr>
          <p:cNvPr id="114" name="Text 13"/>
          <p:cNvSpPr/>
          <p:nvPr/>
        </p:nvSpPr>
        <p:spPr>
          <a:xfrm>
            <a:off x="4517280" y="5514840"/>
            <a:ext cx="1111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c1e328"/>
                </a:solidFill>
                <a:latin typeface="Consolas"/>
                <a:ea typeface="Consolas"/>
              </a:rPr>
              <a:t>Chosen prediction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762120" y="6381720"/>
            <a:ext cx="1066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Consolas"/>
                <a:ea typeface="Consolas"/>
              </a:rPr>
              <a:t>3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17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18" name="Image 2" descr="preencoded.png"/>
          <p:cNvPicPr/>
          <p:nvPr/>
        </p:nvPicPr>
        <p:blipFill>
          <a:blip r:embed="rId3"/>
          <a:stretch/>
        </p:blipFill>
        <p:spPr>
          <a:xfrm>
            <a:off x="4467240" y="961920"/>
            <a:ext cx="780840" cy="56880"/>
          </a:xfrm>
          <a:prstGeom prst="rect">
            <a:avLst/>
          </a:prstGeom>
          <a:ln w="0">
            <a:noFill/>
          </a:ln>
        </p:spPr>
      </p:pic>
      <p:pic>
        <p:nvPicPr>
          <p:cNvPr id="119" name="Image 3" descr="preencoded.png"/>
          <p:cNvPicPr/>
          <p:nvPr/>
        </p:nvPicPr>
        <p:blipFill>
          <a:blip r:embed="rId4"/>
          <a:stretch/>
        </p:blipFill>
        <p:spPr>
          <a:xfrm>
            <a:off x="6238800" y="1562040"/>
            <a:ext cx="5200200" cy="2571480"/>
          </a:xfrm>
          <a:prstGeom prst="rect">
            <a:avLst/>
          </a:prstGeom>
          <a:ln w="0">
            <a:noFill/>
          </a:ln>
        </p:spPr>
      </p:pic>
      <p:pic>
        <p:nvPicPr>
          <p:cNvPr id="120" name="Image 4" descr="preencoded.png"/>
          <p:cNvPicPr/>
          <p:nvPr/>
        </p:nvPicPr>
        <p:blipFill>
          <a:blip r:embed="rId5"/>
          <a:stretch/>
        </p:blipFill>
        <p:spPr>
          <a:xfrm>
            <a:off x="10953720" y="1762200"/>
            <a:ext cx="95040" cy="104400"/>
          </a:xfrm>
          <a:prstGeom prst="rect">
            <a:avLst/>
          </a:prstGeom>
          <a:ln w="0">
            <a:noFill/>
          </a:ln>
        </p:spPr>
      </p:pic>
      <p:pic>
        <p:nvPicPr>
          <p:cNvPr id="121" name="Image 5" descr="preencoded.png"/>
          <p:cNvPicPr/>
          <p:nvPr/>
        </p:nvPicPr>
        <p:blipFill>
          <a:blip r:embed="rId6"/>
          <a:stretch/>
        </p:blipFill>
        <p:spPr>
          <a:xfrm>
            <a:off x="11068200" y="1762200"/>
            <a:ext cx="95040" cy="104400"/>
          </a:xfrm>
          <a:prstGeom prst="rect">
            <a:avLst/>
          </a:prstGeom>
          <a:ln w="0">
            <a:noFill/>
          </a:ln>
        </p:spPr>
      </p:pic>
      <p:pic>
        <p:nvPicPr>
          <p:cNvPr id="122" name="Image 6" descr="preencoded.png"/>
          <p:cNvPicPr/>
          <p:nvPr/>
        </p:nvPicPr>
        <p:blipFill>
          <a:blip r:embed="rId7"/>
          <a:stretch/>
        </p:blipFill>
        <p:spPr>
          <a:xfrm>
            <a:off x="11182320" y="1762200"/>
            <a:ext cx="95040" cy="104400"/>
          </a:xfrm>
          <a:prstGeom prst="rect">
            <a:avLst/>
          </a:prstGeom>
          <a:ln w="0">
            <a:noFill/>
          </a:ln>
        </p:spPr>
      </p:pic>
      <p:pic>
        <p:nvPicPr>
          <p:cNvPr id="123" name="Image 7" descr="preencoded.png"/>
          <p:cNvPicPr/>
          <p:nvPr/>
        </p:nvPicPr>
        <p:blipFill>
          <a:blip r:embed="rId8"/>
          <a:stretch/>
        </p:blipFill>
        <p:spPr>
          <a:xfrm>
            <a:off x="6400800" y="3152880"/>
            <a:ext cx="4876560" cy="818640"/>
          </a:xfrm>
          <a:prstGeom prst="rect">
            <a:avLst/>
          </a:prstGeom>
          <a:ln w="0">
            <a:noFill/>
          </a:ln>
        </p:spPr>
      </p:pic>
      <p:pic>
        <p:nvPicPr>
          <p:cNvPr id="124" name="Image 8" descr="preencoded.png"/>
          <p:cNvPicPr/>
          <p:nvPr/>
        </p:nvPicPr>
        <p:blipFill>
          <a:blip r:embed="rId9"/>
          <a:stretch/>
        </p:blipFill>
        <p:spPr>
          <a:xfrm>
            <a:off x="6400800" y="3581280"/>
            <a:ext cx="1542600" cy="390240"/>
          </a:xfrm>
          <a:prstGeom prst="rect">
            <a:avLst/>
          </a:prstGeom>
          <a:ln w="0">
            <a:noFill/>
          </a:ln>
        </p:spPr>
      </p:pic>
      <p:pic>
        <p:nvPicPr>
          <p:cNvPr id="125" name="Image 9" descr="preencoded.png"/>
          <p:cNvPicPr/>
          <p:nvPr/>
        </p:nvPicPr>
        <p:blipFill>
          <a:blip r:embed="rId10"/>
          <a:stretch/>
        </p:blipFill>
        <p:spPr>
          <a:xfrm>
            <a:off x="6410160" y="3591000"/>
            <a:ext cx="1294920" cy="371160"/>
          </a:xfrm>
          <a:prstGeom prst="rect">
            <a:avLst/>
          </a:prstGeom>
          <a:ln w="0">
            <a:noFill/>
          </a:ln>
        </p:spPr>
      </p:pic>
      <p:pic>
        <p:nvPicPr>
          <p:cNvPr id="126" name="Image 10" descr="preencoded.png"/>
          <p:cNvPicPr/>
          <p:nvPr/>
        </p:nvPicPr>
        <p:blipFill>
          <a:blip r:embed="rId11"/>
          <a:stretch/>
        </p:blipFill>
        <p:spPr>
          <a:xfrm>
            <a:off x="8067600" y="3581280"/>
            <a:ext cx="1542600" cy="390240"/>
          </a:xfrm>
          <a:prstGeom prst="rect">
            <a:avLst/>
          </a:prstGeom>
          <a:ln w="0">
            <a:noFill/>
          </a:ln>
        </p:spPr>
      </p:pic>
      <p:pic>
        <p:nvPicPr>
          <p:cNvPr id="127" name="Image 11" descr="preencoded.png"/>
          <p:cNvPicPr/>
          <p:nvPr/>
        </p:nvPicPr>
        <p:blipFill>
          <a:blip r:embed="rId12"/>
          <a:stretch/>
        </p:blipFill>
        <p:spPr>
          <a:xfrm>
            <a:off x="9734400" y="3581280"/>
            <a:ext cx="1542600" cy="390240"/>
          </a:xfrm>
          <a:prstGeom prst="rect">
            <a:avLst/>
          </a:prstGeom>
          <a:ln w="0">
            <a:noFill/>
          </a:ln>
        </p:spPr>
      </p:pic>
      <p:pic>
        <p:nvPicPr>
          <p:cNvPr id="128" name="Image 12" descr="preencoded.png"/>
          <p:cNvPicPr/>
          <p:nvPr/>
        </p:nvPicPr>
        <p:blipFill>
          <a:blip r:embed="rId13"/>
          <a:stretch/>
        </p:blipFill>
        <p:spPr>
          <a:xfrm>
            <a:off x="6448320" y="4257720"/>
            <a:ext cx="4781160" cy="1933200"/>
          </a:xfrm>
          <a:prstGeom prst="rect">
            <a:avLst/>
          </a:prstGeom>
          <a:ln w="0">
            <a:noFill/>
          </a:ln>
        </p:spPr>
      </p:pic>
      <p:sp>
        <p:nvSpPr>
          <p:cNvPr id="129" name="Text 0"/>
          <p:cNvSpPr/>
          <p:nvPr/>
        </p:nvSpPr>
        <p:spPr>
          <a:xfrm>
            <a:off x="762120" y="762120"/>
            <a:ext cx="356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How AI Predicts</a:t>
            </a:r>
            <a:endParaRPr b="0" lang="en-IN" sz="3400" spc="-1" strike="noStrike"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762120" y="2171880"/>
            <a:ext cx="51811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c1e328"/>
                </a:solidFill>
                <a:latin typeface="Consolas"/>
                <a:ea typeface="Consolas"/>
              </a:rPr>
              <a:t>Models read text as tokens (small pieces) and predict the next token.</a:t>
            </a:r>
            <a:endParaRPr b="0" lang="en-IN" sz="1700" spc="-1" strike="noStrike">
              <a:latin typeface="Arial"/>
            </a:endParaRPr>
          </a:p>
        </p:txBody>
      </p:sp>
      <p:pic>
        <p:nvPicPr>
          <p:cNvPr id="131" name="Image 13" descr="preencoded.png"/>
          <p:cNvPicPr/>
          <p:nvPr/>
        </p:nvPicPr>
        <p:blipFill>
          <a:blip r:embed="rId14"/>
          <a:stretch/>
        </p:blipFill>
        <p:spPr>
          <a:xfrm>
            <a:off x="752400" y="3057480"/>
            <a:ext cx="399600" cy="399600"/>
          </a:xfrm>
          <a:prstGeom prst="rect">
            <a:avLst/>
          </a:prstGeom>
          <a:ln w="0">
            <a:noFill/>
          </a:ln>
        </p:spPr>
      </p:pic>
      <p:sp>
        <p:nvSpPr>
          <p:cNvPr id="132" name="Text 2"/>
          <p:cNvSpPr/>
          <p:nvPr/>
        </p:nvSpPr>
        <p:spPr>
          <a:xfrm>
            <a:off x="762120" y="3067200"/>
            <a:ext cx="380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c1e328"/>
                </a:solidFill>
                <a:highlight>
                  <a:srgbClr val="1a1a1a"/>
                </a:highlight>
                <a:latin typeface="Consolas"/>
                <a:ea typeface="Consolas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762120" y="3448080"/>
            <a:ext cx="5181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Input text is split into tokens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34" name="Image 14" descr="preencoded.png"/>
          <p:cNvPicPr/>
          <p:nvPr/>
        </p:nvPicPr>
        <p:blipFill>
          <a:blip r:embed="rId15"/>
          <a:stretch/>
        </p:blipFill>
        <p:spPr>
          <a:xfrm>
            <a:off x="752400" y="3857760"/>
            <a:ext cx="399600" cy="399600"/>
          </a:xfrm>
          <a:prstGeom prst="rect">
            <a:avLst/>
          </a:prstGeom>
          <a:ln w="0">
            <a:noFill/>
          </a:ln>
        </p:spPr>
      </p:pic>
      <p:sp>
        <p:nvSpPr>
          <p:cNvPr id="135" name="Text 4"/>
          <p:cNvSpPr/>
          <p:nvPr/>
        </p:nvSpPr>
        <p:spPr>
          <a:xfrm>
            <a:off x="762120" y="3867120"/>
            <a:ext cx="380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c1e328"/>
                </a:solidFill>
                <a:highlight>
                  <a:srgbClr val="1a1a1a"/>
                </a:highlight>
                <a:latin typeface="Consolas"/>
                <a:ea typeface="Consolas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762120" y="4248000"/>
            <a:ext cx="51811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Tokens are processed to estimate probabilities of possible next tokens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37" name="Image 15" descr="preencoded.png"/>
          <p:cNvPicPr/>
          <p:nvPr/>
        </p:nvPicPr>
        <p:blipFill>
          <a:blip r:embed="rId16"/>
          <a:stretch/>
        </p:blipFill>
        <p:spPr>
          <a:xfrm>
            <a:off x="752400" y="4924440"/>
            <a:ext cx="399600" cy="399600"/>
          </a:xfrm>
          <a:prstGeom prst="rect">
            <a:avLst/>
          </a:prstGeom>
          <a:ln w="0">
            <a:noFill/>
          </a:ln>
        </p:spPr>
      </p:pic>
      <p:sp>
        <p:nvSpPr>
          <p:cNvPr id="138" name="Text 6"/>
          <p:cNvSpPr/>
          <p:nvPr/>
        </p:nvSpPr>
        <p:spPr>
          <a:xfrm>
            <a:off x="762120" y="4933800"/>
            <a:ext cx="380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c1e328"/>
                </a:solidFill>
                <a:highlight>
                  <a:srgbClr val="1a1a1a"/>
                </a:highlight>
                <a:latin typeface="Consolas"/>
                <a:ea typeface="Consolas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762120" y="5315040"/>
            <a:ext cx="5181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The most probable token is selected to continue the sequence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6410160" y="1738440"/>
            <a:ext cx="1561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b6b6b6"/>
                </a:solidFill>
                <a:latin typeface="Consolas"/>
                <a:ea typeface="Consolas"/>
              </a:rPr>
              <a:t>Tokenization Example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6410160" y="2043000"/>
            <a:ext cx="4857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66666"/>
                </a:solidFill>
                <a:latin typeface="Consolas"/>
                <a:ea typeface="Consolas"/>
              </a:rPr>
              <a:t>Input Sentence: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6410160" y="2309760"/>
            <a:ext cx="4857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“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The market will go up”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43" name="Image 16" descr="preencoded.png"/>
          <p:cNvPicPr/>
          <p:nvPr/>
        </p:nvPicPr>
        <p:blipFill>
          <a:blip r:embed="rId17"/>
          <a:stretch/>
        </p:blipFill>
        <p:spPr>
          <a:xfrm>
            <a:off x="6400800" y="2676600"/>
            <a:ext cx="647280" cy="352080"/>
          </a:xfrm>
          <a:prstGeom prst="rect">
            <a:avLst/>
          </a:prstGeom>
          <a:ln w="0">
            <a:noFill/>
          </a:ln>
        </p:spPr>
      </p:pic>
      <p:sp>
        <p:nvSpPr>
          <p:cNvPr id="144" name="Text 11"/>
          <p:cNvSpPr/>
          <p:nvPr/>
        </p:nvSpPr>
        <p:spPr>
          <a:xfrm>
            <a:off x="6524640" y="2747880"/>
            <a:ext cx="3996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1e328"/>
                </a:solidFill>
                <a:highlight>
                  <a:srgbClr val="333333"/>
                </a:highlight>
                <a:latin typeface="Consolas"/>
                <a:ea typeface="Consolas"/>
              </a:rPr>
              <a:t>[The]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45" name="Image 17" descr="preencoded.png"/>
          <p:cNvPicPr/>
          <p:nvPr/>
        </p:nvPicPr>
        <p:blipFill>
          <a:blip r:embed="rId18"/>
          <a:stretch/>
        </p:blipFill>
        <p:spPr>
          <a:xfrm>
            <a:off x="7105680" y="2676600"/>
            <a:ext cx="952200" cy="352080"/>
          </a:xfrm>
          <a:prstGeom prst="rect">
            <a:avLst/>
          </a:prstGeom>
          <a:ln w="0">
            <a:noFill/>
          </a:ln>
        </p:spPr>
      </p:pic>
      <p:sp>
        <p:nvSpPr>
          <p:cNvPr id="146" name="Text 12"/>
          <p:cNvSpPr/>
          <p:nvPr/>
        </p:nvSpPr>
        <p:spPr>
          <a:xfrm>
            <a:off x="7229520" y="2747880"/>
            <a:ext cx="704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1e328"/>
                </a:solidFill>
                <a:highlight>
                  <a:srgbClr val="333333"/>
                </a:highlight>
                <a:latin typeface="Consolas"/>
                <a:ea typeface="Consolas"/>
              </a:rPr>
              <a:t>[ market]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47" name="Image 18" descr="preencoded.png"/>
          <p:cNvPicPr/>
          <p:nvPr/>
        </p:nvPicPr>
        <p:blipFill>
          <a:blip r:embed="rId19"/>
          <a:stretch/>
        </p:blipFill>
        <p:spPr>
          <a:xfrm>
            <a:off x="8115480" y="2676600"/>
            <a:ext cx="799920" cy="352080"/>
          </a:xfrm>
          <a:prstGeom prst="rect">
            <a:avLst/>
          </a:prstGeom>
          <a:ln w="0">
            <a:noFill/>
          </a:ln>
        </p:spPr>
      </p:pic>
      <p:sp>
        <p:nvSpPr>
          <p:cNvPr id="148" name="Text 13"/>
          <p:cNvSpPr/>
          <p:nvPr/>
        </p:nvSpPr>
        <p:spPr>
          <a:xfrm>
            <a:off x="8238960" y="274788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1e328"/>
                </a:solidFill>
                <a:highlight>
                  <a:srgbClr val="333333"/>
                </a:highlight>
                <a:latin typeface="Consolas"/>
                <a:ea typeface="Consolas"/>
              </a:rPr>
              <a:t>[ will]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49" name="Image 19" descr="preencoded.png"/>
          <p:cNvPicPr/>
          <p:nvPr/>
        </p:nvPicPr>
        <p:blipFill>
          <a:blip r:embed="rId20"/>
          <a:stretch/>
        </p:blipFill>
        <p:spPr>
          <a:xfrm>
            <a:off x="8972640" y="2676600"/>
            <a:ext cx="647280" cy="352080"/>
          </a:xfrm>
          <a:prstGeom prst="rect">
            <a:avLst/>
          </a:prstGeom>
          <a:ln w="0">
            <a:noFill/>
          </a:ln>
        </p:spPr>
      </p:pic>
      <p:sp>
        <p:nvSpPr>
          <p:cNvPr id="150" name="Text 14"/>
          <p:cNvSpPr/>
          <p:nvPr/>
        </p:nvSpPr>
        <p:spPr>
          <a:xfrm>
            <a:off x="9096480" y="2747880"/>
            <a:ext cx="3996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1e328"/>
                </a:solidFill>
                <a:highlight>
                  <a:srgbClr val="333333"/>
                </a:highlight>
                <a:latin typeface="Consolas"/>
                <a:ea typeface="Consolas"/>
              </a:rPr>
              <a:t>[ go]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51" name="Image 20" descr="preencoded.png"/>
          <p:cNvPicPr/>
          <p:nvPr/>
        </p:nvPicPr>
        <p:blipFill>
          <a:blip r:embed="rId21"/>
          <a:stretch/>
        </p:blipFill>
        <p:spPr>
          <a:xfrm>
            <a:off x="9534600" y="2533680"/>
            <a:ext cx="933120" cy="637920"/>
          </a:xfrm>
          <a:prstGeom prst="rect">
            <a:avLst/>
          </a:prstGeom>
          <a:ln w="0">
            <a:noFill/>
          </a:ln>
        </p:spPr>
      </p:pic>
      <p:sp>
        <p:nvSpPr>
          <p:cNvPr id="152" name="Text 15"/>
          <p:cNvSpPr/>
          <p:nvPr/>
        </p:nvSpPr>
        <p:spPr>
          <a:xfrm>
            <a:off x="9801360" y="2747880"/>
            <a:ext cx="3996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0000"/>
                </a:solidFill>
                <a:highlight>
                  <a:srgbClr val="c1e328"/>
                </a:highlight>
                <a:latin typeface="Consolas"/>
                <a:ea typeface="Consolas"/>
              </a:rPr>
              <a:t>[ up]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6410160" y="3328920"/>
            <a:ext cx="4857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66666"/>
                </a:solidFill>
                <a:latin typeface="Consolas"/>
                <a:ea typeface="Consolas"/>
              </a:rPr>
              <a:t>Next Token Probability: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4" name="Text 17"/>
          <p:cNvSpPr/>
          <p:nvPr/>
        </p:nvSpPr>
        <p:spPr>
          <a:xfrm>
            <a:off x="6496200" y="3681360"/>
            <a:ext cx="151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5" name="Text 18"/>
          <p:cNvSpPr/>
          <p:nvPr/>
        </p:nvSpPr>
        <p:spPr>
          <a:xfrm>
            <a:off x="7642080" y="3700440"/>
            <a:ext cx="199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c1e328"/>
                </a:solidFill>
                <a:latin typeface="Consolas"/>
                <a:ea typeface="Consolas"/>
              </a:rPr>
              <a:t>85%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56" name="Text 19"/>
          <p:cNvSpPr/>
          <p:nvPr/>
        </p:nvSpPr>
        <p:spPr>
          <a:xfrm>
            <a:off x="8165880" y="3681360"/>
            <a:ext cx="304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88888"/>
                </a:solidFill>
                <a:latin typeface="Consolas"/>
                <a:ea typeface="Consolas"/>
              </a:rPr>
              <a:t>down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7" name="Text 20"/>
          <p:cNvSpPr/>
          <p:nvPr/>
        </p:nvSpPr>
        <p:spPr>
          <a:xfrm>
            <a:off x="9312480" y="3700440"/>
            <a:ext cx="199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66666"/>
                </a:solidFill>
                <a:latin typeface="Consolas"/>
                <a:ea typeface="Consolas"/>
              </a:rPr>
              <a:t>10%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58" name="Text 21"/>
          <p:cNvSpPr/>
          <p:nvPr/>
        </p:nvSpPr>
        <p:spPr>
          <a:xfrm>
            <a:off x="9836280" y="3681360"/>
            <a:ext cx="304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88888"/>
                </a:solidFill>
                <a:latin typeface="Consolas"/>
                <a:ea typeface="Consolas"/>
              </a:rPr>
              <a:t>flat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9" name="Text 22"/>
          <p:cNvSpPr/>
          <p:nvPr/>
        </p:nvSpPr>
        <p:spPr>
          <a:xfrm>
            <a:off x="11049120" y="3700440"/>
            <a:ext cx="132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66666"/>
                </a:solidFill>
                <a:latin typeface="Consolas"/>
                <a:ea typeface="Consolas"/>
              </a:rPr>
              <a:t>5%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60" name="Text 23"/>
          <p:cNvSpPr/>
          <p:nvPr/>
        </p:nvSpPr>
        <p:spPr>
          <a:xfrm>
            <a:off x="762120" y="6381720"/>
            <a:ext cx="1066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Consolas"/>
                <a:ea typeface="Consolas"/>
              </a:rPr>
              <a:t>4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62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63" name="Image 2" descr="preencoded.png"/>
          <p:cNvPicPr/>
          <p:nvPr/>
        </p:nvPicPr>
        <p:blipFill>
          <a:blip r:embed="rId3"/>
          <a:stretch/>
        </p:blipFill>
        <p:spPr>
          <a:xfrm>
            <a:off x="7467480" y="961920"/>
            <a:ext cx="780840" cy="56880"/>
          </a:xfrm>
          <a:prstGeom prst="rect">
            <a:avLst/>
          </a:prstGeom>
          <a:ln w="0">
            <a:noFill/>
          </a:ln>
        </p:spPr>
      </p:pic>
      <p:pic>
        <p:nvPicPr>
          <p:cNvPr id="164" name="Image 3" descr="preencoded.png"/>
          <p:cNvPicPr/>
          <p:nvPr/>
        </p:nvPicPr>
        <p:blipFill>
          <a:blip r:embed="rId4"/>
          <a:stretch/>
        </p:blipFill>
        <p:spPr>
          <a:xfrm>
            <a:off x="752400" y="3247920"/>
            <a:ext cx="95040" cy="95040"/>
          </a:xfrm>
          <a:prstGeom prst="rect">
            <a:avLst/>
          </a:prstGeom>
          <a:ln w="0">
            <a:noFill/>
          </a:ln>
        </p:spPr>
      </p:pic>
      <p:pic>
        <p:nvPicPr>
          <p:cNvPr id="165" name="Image 4" descr="preencoded.png"/>
          <p:cNvPicPr/>
          <p:nvPr/>
        </p:nvPicPr>
        <p:blipFill>
          <a:blip r:embed="rId5"/>
          <a:stretch/>
        </p:blipFill>
        <p:spPr>
          <a:xfrm>
            <a:off x="752400" y="3629160"/>
            <a:ext cx="95040" cy="95040"/>
          </a:xfrm>
          <a:prstGeom prst="rect">
            <a:avLst/>
          </a:prstGeom>
          <a:ln w="0">
            <a:noFill/>
          </a:ln>
        </p:spPr>
      </p:pic>
      <p:pic>
        <p:nvPicPr>
          <p:cNvPr id="166" name="Image 5" descr="preencoded.png"/>
          <p:cNvPicPr/>
          <p:nvPr/>
        </p:nvPicPr>
        <p:blipFill>
          <a:blip r:embed="rId6"/>
          <a:stretch/>
        </p:blipFill>
        <p:spPr>
          <a:xfrm>
            <a:off x="752400" y="4010040"/>
            <a:ext cx="5200200" cy="1180800"/>
          </a:xfrm>
          <a:prstGeom prst="rect">
            <a:avLst/>
          </a:prstGeom>
          <a:ln w="0">
            <a:noFill/>
          </a:ln>
        </p:spPr>
      </p:pic>
      <p:pic>
        <p:nvPicPr>
          <p:cNvPr id="167" name="Image 6" descr="preencoded.png"/>
          <p:cNvPicPr/>
          <p:nvPr/>
        </p:nvPicPr>
        <p:blipFill>
          <a:blip r:embed="rId7"/>
          <a:stretch/>
        </p:blipFill>
        <p:spPr>
          <a:xfrm>
            <a:off x="6315120" y="2200320"/>
            <a:ext cx="5200200" cy="2943000"/>
          </a:xfrm>
          <a:prstGeom prst="rect">
            <a:avLst/>
          </a:prstGeom>
          <a:ln w="0">
            <a:noFill/>
          </a:ln>
        </p:spPr>
      </p:pic>
      <p:pic>
        <p:nvPicPr>
          <p:cNvPr id="168" name="Image 7" descr="preencoded.png"/>
          <p:cNvPicPr/>
          <p:nvPr/>
        </p:nvPicPr>
        <p:blipFill>
          <a:blip r:embed="rId8"/>
          <a:stretch/>
        </p:blipFill>
        <p:spPr>
          <a:xfrm>
            <a:off x="6286680" y="3352680"/>
            <a:ext cx="5257440" cy="1552320"/>
          </a:xfrm>
          <a:prstGeom prst="rect">
            <a:avLst/>
          </a:prstGeom>
          <a:ln w="0">
            <a:noFill/>
          </a:ln>
        </p:spPr>
      </p:pic>
      <p:pic>
        <p:nvPicPr>
          <p:cNvPr id="169" name="Image 8" descr="preencoded.png"/>
          <p:cNvPicPr/>
          <p:nvPr/>
        </p:nvPicPr>
        <p:blipFill>
          <a:blip r:embed="rId9"/>
          <a:stretch/>
        </p:blipFill>
        <p:spPr>
          <a:xfrm>
            <a:off x="6238800" y="4524480"/>
            <a:ext cx="5200200" cy="1542600"/>
          </a:xfrm>
          <a:prstGeom prst="rect">
            <a:avLst/>
          </a:prstGeom>
          <a:ln w="0">
            <a:noFill/>
          </a:ln>
        </p:spPr>
      </p:pic>
      <p:sp>
        <p:nvSpPr>
          <p:cNvPr id="170" name="Text 0"/>
          <p:cNvSpPr/>
          <p:nvPr/>
        </p:nvSpPr>
        <p:spPr>
          <a:xfrm>
            <a:off x="762120" y="762120"/>
            <a:ext cx="660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AI Memory (Context Window)</a:t>
            </a:r>
            <a:endParaRPr b="0" lang="en-IN" sz="3400" spc="-1" strike="noStrike"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762120" y="2381400"/>
            <a:ext cx="51811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c1e328"/>
                </a:solidFill>
                <a:latin typeface="Consolas"/>
                <a:ea typeface="Consolas"/>
              </a:rPr>
              <a:t>AI answers using the most recent conversation it can “see” (the context window).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762120" y="2952720"/>
            <a:ext cx="5181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What this means: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762120" y="3333600"/>
            <a:ext cx="5181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b6b6b6"/>
                </a:solidFill>
                <a:latin typeface="Arial"/>
                <a:ea typeface="Arial"/>
              </a:rPr>
              <a:t>Recent messages strongly influence the response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762120" y="3714840"/>
            <a:ext cx="5181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b6b6b6"/>
                </a:solidFill>
                <a:latin typeface="Arial"/>
                <a:ea typeface="Arial"/>
              </a:rPr>
              <a:t>Older messages outside the window may be ignored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923760" y="4181400"/>
            <a:ext cx="4857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c1e328"/>
                </a:solidFill>
                <a:latin typeface="Consolas"/>
                <a:ea typeface="Consolas"/>
              </a:rPr>
              <a:t>Practical Takeaway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76" name="Image 9" descr="preencoded.png"/>
          <p:cNvPicPr/>
          <p:nvPr/>
        </p:nvPicPr>
        <p:blipFill>
          <a:blip r:embed="rId10"/>
          <a:stretch/>
        </p:blipFill>
        <p:spPr>
          <a:xfrm>
            <a:off x="914400" y="4514760"/>
            <a:ext cx="123480" cy="132840"/>
          </a:xfrm>
          <a:prstGeom prst="rect">
            <a:avLst/>
          </a:prstGeom>
          <a:ln w="0">
            <a:noFill/>
          </a:ln>
        </p:spPr>
      </p:pic>
      <p:sp>
        <p:nvSpPr>
          <p:cNvPr id="177" name="Text 6"/>
          <p:cNvSpPr/>
          <p:nvPr/>
        </p:nvSpPr>
        <p:spPr>
          <a:xfrm>
            <a:off x="1104840" y="4486320"/>
            <a:ext cx="3847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Put key requirements close to the end of your prompt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78" name="Image 10" descr="preencoded.png"/>
          <p:cNvPicPr/>
          <p:nvPr/>
        </p:nvPicPr>
        <p:blipFill>
          <a:blip r:embed="rId11"/>
          <a:stretch/>
        </p:blipFill>
        <p:spPr>
          <a:xfrm>
            <a:off x="914400" y="4819680"/>
            <a:ext cx="123480" cy="132840"/>
          </a:xfrm>
          <a:prstGeom prst="rect">
            <a:avLst/>
          </a:prstGeom>
          <a:ln w="0">
            <a:noFill/>
          </a:ln>
        </p:spPr>
      </p:pic>
      <p:sp>
        <p:nvSpPr>
          <p:cNvPr id="179" name="Text 7"/>
          <p:cNvSpPr/>
          <p:nvPr/>
        </p:nvSpPr>
        <p:spPr>
          <a:xfrm>
            <a:off x="1104840" y="4791240"/>
            <a:ext cx="3800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Restate constraints when the conversation gets long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80" name="Image 11" descr="preencoded.png"/>
          <p:cNvPicPr/>
          <p:nvPr/>
        </p:nvPicPr>
        <p:blipFill>
          <a:blip r:embed="rId12"/>
          <a:stretch/>
        </p:blipFill>
        <p:spPr>
          <a:xfrm>
            <a:off x="8496360" y="2362320"/>
            <a:ext cx="2857320" cy="333000"/>
          </a:xfrm>
          <a:prstGeom prst="rect">
            <a:avLst/>
          </a:prstGeom>
          <a:ln w="0">
            <a:noFill/>
          </a:ln>
        </p:spPr>
      </p:pic>
      <p:sp>
        <p:nvSpPr>
          <p:cNvPr id="181" name="Text 8"/>
          <p:cNvSpPr/>
          <p:nvPr/>
        </p:nvSpPr>
        <p:spPr>
          <a:xfrm>
            <a:off x="8658360" y="2453400"/>
            <a:ext cx="2533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888888"/>
                </a:solidFill>
                <a:highlight>
                  <a:srgbClr val="333333"/>
                </a:highlight>
                <a:latin typeface="Consolas"/>
                <a:ea typeface="Consolas"/>
              </a:rPr>
              <a:t>Hi, can you help me analyze this data?</a:t>
            </a:r>
            <a:endParaRPr b="0" lang="en-IN" sz="800" spc="-1" strike="noStrike">
              <a:latin typeface="Arial"/>
            </a:endParaRPr>
          </a:p>
        </p:txBody>
      </p:sp>
      <p:pic>
        <p:nvPicPr>
          <p:cNvPr id="182" name="Image 12" descr="preencoded.png"/>
          <p:cNvPicPr/>
          <p:nvPr/>
        </p:nvPicPr>
        <p:blipFill>
          <a:blip r:embed="rId13"/>
          <a:stretch/>
        </p:blipFill>
        <p:spPr>
          <a:xfrm>
            <a:off x="6477120" y="2743200"/>
            <a:ext cx="2523600" cy="333000"/>
          </a:xfrm>
          <a:prstGeom prst="rect">
            <a:avLst/>
          </a:prstGeom>
          <a:ln w="0">
            <a:noFill/>
          </a:ln>
        </p:spPr>
      </p:pic>
      <p:sp>
        <p:nvSpPr>
          <p:cNvPr id="183" name="Text 9"/>
          <p:cNvSpPr/>
          <p:nvPr/>
        </p:nvSpPr>
        <p:spPr>
          <a:xfrm>
            <a:off x="6638760" y="2834280"/>
            <a:ext cx="21999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888888"/>
                </a:solidFill>
                <a:highlight>
                  <a:srgbClr val="222222"/>
                </a:highlight>
                <a:latin typeface="Consolas"/>
                <a:ea typeface="Consolas"/>
              </a:rPr>
              <a:t>Sure! Please provide the dataset.</a:t>
            </a:r>
            <a:endParaRPr b="0" lang="en-IN" sz="800" spc="-1" strike="noStrike">
              <a:latin typeface="Arial"/>
            </a:endParaRPr>
          </a:p>
        </p:txBody>
      </p:sp>
      <p:pic>
        <p:nvPicPr>
          <p:cNvPr id="184" name="Image 13" descr="preencoded.png"/>
          <p:cNvPicPr/>
          <p:nvPr/>
        </p:nvPicPr>
        <p:blipFill>
          <a:blip r:embed="rId14"/>
          <a:stretch/>
        </p:blipFill>
        <p:spPr>
          <a:xfrm>
            <a:off x="9496440" y="3124080"/>
            <a:ext cx="1856880" cy="333000"/>
          </a:xfrm>
          <a:prstGeom prst="rect">
            <a:avLst/>
          </a:prstGeom>
          <a:ln w="0">
            <a:noFill/>
          </a:ln>
        </p:spPr>
      </p:pic>
      <p:sp>
        <p:nvSpPr>
          <p:cNvPr id="185" name="Text 10"/>
          <p:cNvSpPr/>
          <p:nvPr/>
        </p:nvSpPr>
        <p:spPr>
          <a:xfrm>
            <a:off x="9658440" y="3215160"/>
            <a:ext cx="15332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888888"/>
                </a:solidFill>
                <a:highlight>
                  <a:srgbClr val="333333"/>
                </a:highlight>
                <a:latin typeface="Consolas"/>
                <a:ea typeface="Consolas"/>
              </a:rPr>
              <a:t>Here is the CSV file...</a:t>
            </a:r>
            <a:endParaRPr b="0" lang="en-IN" sz="800" spc="-1" strike="noStrike">
              <a:latin typeface="Arial"/>
            </a:endParaRPr>
          </a:p>
        </p:txBody>
      </p:sp>
      <p:pic>
        <p:nvPicPr>
          <p:cNvPr id="186" name="Image 14" descr="preencoded.png"/>
          <p:cNvPicPr/>
          <p:nvPr/>
        </p:nvPicPr>
        <p:blipFill>
          <a:blip r:embed="rId15"/>
          <a:stretch/>
        </p:blipFill>
        <p:spPr>
          <a:xfrm>
            <a:off x="6648480" y="3486240"/>
            <a:ext cx="1104480" cy="180720"/>
          </a:xfrm>
          <a:prstGeom prst="rect">
            <a:avLst/>
          </a:prstGeom>
          <a:ln w="0">
            <a:noFill/>
          </a:ln>
        </p:spPr>
      </p:pic>
      <p:sp>
        <p:nvSpPr>
          <p:cNvPr id="187" name="Text 11"/>
          <p:cNvSpPr/>
          <p:nvPr/>
        </p:nvSpPr>
        <p:spPr>
          <a:xfrm>
            <a:off x="6734160" y="3501000"/>
            <a:ext cx="9331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c1e328"/>
                </a:solidFill>
                <a:highlight>
                  <a:srgbClr val="1a1a1a"/>
                </a:highlight>
                <a:latin typeface="Consolas"/>
                <a:ea typeface="Consolas"/>
              </a:rPr>
              <a:t>Context Window</a:t>
            </a:r>
            <a:endParaRPr b="0" lang="en-IN" sz="800" spc="-1" strike="noStrike">
              <a:latin typeface="Arial"/>
            </a:endParaRPr>
          </a:p>
        </p:txBody>
      </p:sp>
      <p:pic>
        <p:nvPicPr>
          <p:cNvPr id="188" name="Image 15" descr="preencoded.png"/>
          <p:cNvPicPr/>
          <p:nvPr/>
        </p:nvPicPr>
        <p:blipFill>
          <a:blip r:embed="rId16"/>
          <a:stretch/>
        </p:blipFill>
        <p:spPr>
          <a:xfrm>
            <a:off x="6572160" y="3638520"/>
            <a:ext cx="4219200" cy="561600"/>
          </a:xfrm>
          <a:prstGeom prst="rect">
            <a:avLst/>
          </a:prstGeom>
          <a:ln w="0">
            <a:noFill/>
          </a:ln>
        </p:spPr>
      </p:pic>
      <p:sp>
        <p:nvSpPr>
          <p:cNvPr id="189" name="Text 12"/>
          <p:cNvSpPr/>
          <p:nvPr/>
        </p:nvSpPr>
        <p:spPr>
          <a:xfrm>
            <a:off x="6734160" y="3729600"/>
            <a:ext cx="3895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highlight>
                  <a:srgbClr val="222222"/>
                </a:highlight>
                <a:latin typeface="Consolas"/>
                <a:ea typeface="Consolas"/>
              </a:rPr>
              <a:t>I see the data. It contains sales figures for Q1-Q3.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90" name="Image 16" descr="preencoded.png"/>
          <p:cNvPicPr/>
          <p:nvPr/>
        </p:nvPicPr>
        <p:blipFill>
          <a:blip r:embed="rId17"/>
          <a:stretch/>
        </p:blipFill>
        <p:spPr>
          <a:xfrm>
            <a:off x="7277040" y="4248000"/>
            <a:ext cx="3981240" cy="371160"/>
          </a:xfrm>
          <a:prstGeom prst="rect">
            <a:avLst/>
          </a:prstGeom>
          <a:ln w="0">
            <a:noFill/>
          </a:ln>
        </p:spPr>
      </p:pic>
      <p:sp>
        <p:nvSpPr>
          <p:cNvPr id="191" name="Text 13"/>
          <p:cNvSpPr/>
          <p:nvPr/>
        </p:nvSpPr>
        <p:spPr>
          <a:xfrm>
            <a:off x="7439040" y="4339440"/>
            <a:ext cx="3657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0000"/>
                </a:solidFill>
                <a:highlight>
                  <a:srgbClr val="c1e328"/>
                </a:highlight>
                <a:latin typeface="Consolas"/>
                <a:ea typeface="Consolas"/>
              </a:rPr>
              <a:t>Great. Focus only on Q3 trends and ignore Q1-Q2.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92" name="Image 17" descr="preencoded.png"/>
          <p:cNvPicPr/>
          <p:nvPr/>
        </p:nvPicPr>
        <p:blipFill>
          <a:blip r:embed="rId18"/>
          <a:stretch/>
        </p:blipFill>
        <p:spPr>
          <a:xfrm>
            <a:off x="7620120" y="4819680"/>
            <a:ext cx="114120" cy="142560"/>
          </a:xfrm>
          <a:prstGeom prst="rect">
            <a:avLst/>
          </a:prstGeom>
          <a:ln w="0">
            <a:noFill/>
          </a:ln>
        </p:spPr>
      </p:pic>
      <p:sp>
        <p:nvSpPr>
          <p:cNvPr id="193" name="Text 14"/>
          <p:cNvSpPr/>
          <p:nvPr/>
        </p:nvSpPr>
        <p:spPr>
          <a:xfrm>
            <a:off x="7796160" y="4815360"/>
            <a:ext cx="866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888888"/>
                </a:solidFill>
                <a:latin typeface="Consolas"/>
                <a:ea typeface="Consolas"/>
              </a:rPr>
              <a:t>AI Processing</a:t>
            </a:r>
            <a:endParaRPr b="0" lang="en-IN" sz="800" spc="-1" strike="noStrike">
              <a:latin typeface="Arial"/>
            </a:endParaRPr>
          </a:p>
        </p:txBody>
      </p:sp>
      <p:pic>
        <p:nvPicPr>
          <p:cNvPr id="194" name="Image 18" descr="preencoded.png"/>
          <p:cNvPicPr/>
          <p:nvPr/>
        </p:nvPicPr>
        <p:blipFill>
          <a:blip r:embed="rId19"/>
          <a:stretch/>
        </p:blipFill>
        <p:spPr>
          <a:xfrm>
            <a:off x="8724960" y="4819680"/>
            <a:ext cx="142560" cy="142560"/>
          </a:xfrm>
          <a:prstGeom prst="rect">
            <a:avLst/>
          </a:prstGeom>
          <a:ln w="0">
            <a:noFill/>
          </a:ln>
        </p:spPr>
      </p:pic>
      <p:sp>
        <p:nvSpPr>
          <p:cNvPr id="195" name="Text 15"/>
          <p:cNvSpPr/>
          <p:nvPr/>
        </p:nvSpPr>
        <p:spPr>
          <a:xfrm>
            <a:off x="8929800" y="4815360"/>
            <a:ext cx="1266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888888"/>
                </a:solidFill>
                <a:latin typeface="Consolas"/>
                <a:ea typeface="Consolas"/>
              </a:rPr>
              <a:t>Response Generation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6" name="Text 16"/>
          <p:cNvSpPr/>
          <p:nvPr/>
        </p:nvSpPr>
        <p:spPr>
          <a:xfrm>
            <a:off x="762120" y="6381720"/>
            <a:ext cx="1066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Consolas"/>
                <a:ea typeface="Consolas"/>
              </a:rPr>
              <a:t>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98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99" name="Image 2" descr="preencoded.png"/>
          <p:cNvPicPr/>
          <p:nvPr/>
        </p:nvPicPr>
        <p:blipFill>
          <a:blip r:embed="rId3"/>
          <a:stretch/>
        </p:blipFill>
        <p:spPr>
          <a:xfrm>
            <a:off x="4600440" y="961920"/>
            <a:ext cx="780840" cy="56880"/>
          </a:xfrm>
          <a:prstGeom prst="rect">
            <a:avLst/>
          </a:prstGeom>
          <a:ln w="0">
            <a:noFill/>
          </a:ln>
        </p:spPr>
      </p:pic>
      <p:pic>
        <p:nvPicPr>
          <p:cNvPr id="200" name="Image 3" descr="preencoded.png"/>
          <p:cNvPicPr/>
          <p:nvPr/>
        </p:nvPicPr>
        <p:blipFill>
          <a:blip r:embed="rId4"/>
          <a:stretch/>
        </p:blipFill>
        <p:spPr>
          <a:xfrm>
            <a:off x="4314960" y="1000080"/>
            <a:ext cx="7486200" cy="2628720"/>
          </a:xfrm>
          <a:prstGeom prst="rect">
            <a:avLst/>
          </a:prstGeom>
          <a:ln w="0">
            <a:noFill/>
          </a:ln>
        </p:spPr>
      </p:pic>
      <p:pic>
        <p:nvPicPr>
          <p:cNvPr id="201" name="Image 4" descr="preencoded.png"/>
          <p:cNvPicPr/>
          <p:nvPr/>
        </p:nvPicPr>
        <p:blipFill>
          <a:blip r:embed="rId5"/>
          <a:stretch/>
        </p:blipFill>
        <p:spPr>
          <a:xfrm>
            <a:off x="4800600" y="1486080"/>
            <a:ext cx="6514920" cy="333000"/>
          </a:xfrm>
          <a:prstGeom prst="rect">
            <a:avLst/>
          </a:prstGeom>
          <a:ln w="0">
            <a:noFill/>
          </a:ln>
        </p:spPr>
      </p:pic>
      <p:pic>
        <p:nvPicPr>
          <p:cNvPr id="202" name="Image 5" descr="preencoded.png"/>
          <p:cNvPicPr/>
          <p:nvPr/>
        </p:nvPicPr>
        <p:blipFill>
          <a:blip r:embed="rId6"/>
          <a:stretch/>
        </p:blipFill>
        <p:spPr>
          <a:xfrm>
            <a:off x="10801440" y="1523880"/>
            <a:ext cx="132840" cy="132840"/>
          </a:xfrm>
          <a:prstGeom prst="rect">
            <a:avLst/>
          </a:prstGeom>
          <a:ln w="0">
            <a:noFill/>
          </a:ln>
        </p:spPr>
      </p:pic>
      <p:pic>
        <p:nvPicPr>
          <p:cNvPr id="203" name="Image 6" descr="preencoded.png"/>
          <p:cNvPicPr/>
          <p:nvPr/>
        </p:nvPicPr>
        <p:blipFill>
          <a:blip r:embed="rId7"/>
          <a:stretch/>
        </p:blipFill>
        <p:spPr>
          <a:xfrm>
            <a:off x="10991880" y="1523880"/>
            <a:ext cx="132840" cy="132840"/>
          </a:xfrm>
          <a:prstGeom prst="rect">
            <a:avLst/>
          </a:prstGeom>
          <a:ln w="0">
            <a:noFill/>
          </a:ln>
        </p:spPr>
      </p:pic>
      <p:pic>
        <p:nvPicPr>
          <p:cNvPr id="204" name="Image 7" descr="preencoded.png"/>
          <p:cNvPicPr/>
          <p:nvPr/>
        </p:nvPicPr>
        <p:blipFill>
          <a:blip r:embed="rId8"/>
          <a:stretch/>
        </p:blipFill>
        <p:spPr>
          <a:xfrm>
            <a:off x="11182320" y="1523880"/>
            <a:ext cx="132840" cy="132840"/>
          </a:xfrm>
          <a:prstGeom prst="rect">
            <a:avLst/>
          </a:prstGeom>
          <a:ln w="0">
            <a:noFill/>
          </a:ln>
        </p:spPr>
      </p:pic>
      <p:pic>
        <p:nvPicPr>
          <p:cNvPr id="205" name="Image 8" descr="preencoded.png"/>
          <p:cNvPicPr/>
          <p:nvPr/>
        </p:nvPicPr>
        <p:blipFill>
          <a:blip r:embed="rId9"/>
          <a:stretch/>
        </p:blipFill>
        <p:spPr>
          <a:xfrm>
            <a:off x="4800600" y="1952640"/>
            <a:ext cx="2114280" cy="952200"/>
          </a:xfrm>
          <a:prstGeom prst="rect">
            <a:avLst/>
          </a:prstGeom>
          <a:ln w="0">
            <a:noFill/>
          </a:ln>
        </p:spPr>
      </p:pic>
      <p:pic>
        <p:nvPicPr>
          <p:cNvPr id="206" name="Image 9" descr="preencoded.png"/>
          <p:cNvPicPr/>
          <p:nvPr/>
        </p:nvPicPr>
        <p:blipFill>
          <a:blip r:embed="rId10"/>
          <a:stretch/>
        </p:blipFill>
        <p:spPr>
          <a:xfrm>
            <a:off x="7000920" y="1952640"/>
            <a:ext cx="2114280" cy="952200"/>
          </a:xfrm>
          <a:prstGeom prst="rect">
            <a:avLst/>
          </a:prstGeom>
          <a:ln w="0">
            <a:noFill/>
          </a:ln>
        </p:spPr>
      </p:pic>
      <p:pic>
        <p:nvPicPr>
          <p:cNvPr id="207" name="Image 10" descr="preencoded.png"/>
          <p:cNvPicPr/>
          <p:nvPr/>
        </p:nvPicPr>
        <p:blipFill>
          <a:blip r:embed="rId11"/>
          <a:stretch/>
        </p:blipFill>
        <p:spPr>
          <a:xfrm>
            <a:off x="9201240" y="1952640"/>
            <a:ext cx="2114280" cy="952200"/>
          </a:xfrm>
          <a:prstGeom prst="rect">
            <a:avLst/>
          </a:prstGeom>
          <a:ln w="0">
            <a:noFill/>
          </a:ln>
        </p:spPr>
      </p:pic>
      <p:pic>
        <p:nvPicPr>
          <p:cNvPr id="208" name="Image 11" descr="preencoded.png"/>
          <p:cNvPicPr/>
          <p:nvPr/>
        </p:nvPicPr>
        <p:blipFill>
          <a:blip r:embed="rId12"/>
          <a:stretch/>
        </p:blipFill>
        <p:spPr>
          <a:xfrm>
            <a:off x="4676760" y="3124080"/>
            <a:ext cx="6762240" cy="3114360"/>
          </a:xfrm>
          <a:prstGeom prst="rect">
            <a:avLst/>
          </a:prstGeom>
          <a:ln w="0">
            <a:noFill/>
          </a:ln>
        </p:spPr>
      </p:pic>
      <p:pic>
        <p:nvPicPr>
          <p:cNvPr id="209" name="Image 12" descr="preencoded.png"/>
          <p:cNvPicPr/>
          <p:nvPr/>
        </p:nvPicPr>
        <p:blipFill>
          <a:blip r:embed="rId13"/>
          <a:stretch/>
        </p:blipFill>
        <p:spPr>
          <a:xfrm>
            <a:off x="5191200" y="3714840"/>
            <a:ext cx="5743080" cy="1933200"/>
          </a:xfrm>
          <a:prstGeom prst="rect">
            <a:avLst/>
          </a:prstGeom>
          <a:ln w="0">
            <a:noFill/>
          </a:ln>
        </p:spPr>
      </p:pic>
      <p:sp>
        <p:nvSpPr>
          <p:cNvPr id="210" name="Text 0"/>
          <p:cNvSpPr/>
          <p:nvPr/>
        </p:nvSpPr>
        <p:spPr>
          <a:xfrm>
            <a:off x="762120" y="762120"/>
            <a:ext cx="3733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How to Talk to AI</a:t>
            </a:r>
            <a:endParaRPr b="0" lang="en-IN" sz="3400" spc="-1" strike="noStrike">
              <a:latin typeface="Arial"/>
            </a:endParaRPr>
          </a:p>
        </p:txBody>
      </p:sp>
      <p:pic>
        <p:nvPicPr>
          <p:cNvPr id="211" name="Image 13" descr="preencoded.png"/>
          <p:cNvPicPr/>
          <p:nvPr/>
        </p:nvPicPr>
        <p:blipFill>
          <a:blip r:embed="rId14"/>
          <a:stretch/>
        </p:blipFill>
        <p:spPr>
          <a:xfrm>
            <a:off x="752400" y="2200320"/>
            <a:ext cx="3647880" cy="647280"/>
          </a:xfrm>
          <a:prstGeom prst="rect">
            <a:avLst/>
          </a:prstGeom>
          <a:ln w="0">
            <a:noFill/>
          </a:ln>
        </p:spPr>
      </p:pic>
      <p:sp>
        <p:nvSpPr>
          <p:cNvPr id="212" name="Text 1"/>
          <p:cNvSpPr/>
          <p:nvPr/>
        </p:nvSpPr>
        <p:spPr>
          <a:xfrm>
            <a:off x="914400" y="2214720"/>
            <a:ext cx="347436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1e328"/>
                </a:solidFill>
                <a:latin typeface="Consolas"/>
                <a:ea typeface="Consolas"/>
              </a:rPr>
              <a:t>Strong prompts clarify Role, Context, and Task.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213" name="Image 14" descr="preencoded.png"/>
          <p:cNvPicPr/>
          <p:nvPr/>
        </p:nvPicPr>
        <p:blipFill>
          <a:blip r:embed="rId15"/>
          <a:stretch/>
        </p:blipFill>
        <p:spPr>
          <a:xfrm>
            <a:off x="828720" y="3105000"/>
            <a:ext cx="256680" cy="218880"/>
          </a:xfrm>
          <a:prstGeom prst="rect">
            <a:avLst/>
          </a:prstGeom>
          <a:ln w="0">
            <a:noFill/>
          </a:ln>
        </p:spPr>
      </p:pic>
      <p:sp>
        <p:nvSpPr>
          <p:cNvPr id="214" name="Text 2"/>
          <p:cNvSpPr/>
          <p:nvPr/>
        </p:nvSpPr>
        <p:spPr>
          <a:xfrm>
            <a:off x="1190520" y="3062160"/>
            <a:ext cx="495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Role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1066680" y="3405240"/>
            <a:ext cx="332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b6b6b6"/>
                </a:solidFill>
                <a:latin typeface="Consolas"/>
                <a:ea typeface="Consolas"/>
              </a:rPr>
              <a:t>Who the AI should act as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216" name="Image 15" descr="preencoded.png"/>
          <p:cNvPicPr/>
          <p:nvPr/>
        </p:nvPicPr>
        <p:blipFill>
          <a:blip r:embed="rId16"/>
          <a:stretch/>
        </p:blipFill>
        <p:spPr>
          <a:xfrm>
            <a:off x="828720" y="3867120"/>
            <a:ext cx="237600" cy="218880"/>
          </a:xfrm>
          <a:prstGeom prst="rect">
            <a:avLst/>
          </a:prstGeom>
          <a:ln w="0">
            <a:noFill/>
          </a:ln>
        </p:spPr>
      </p:pic>
      <p:sp>
        <p:nvSpPr>
          <p:cNvPr id="217" name="Text 4"/>
          <p:cNvSpPr/>
          <p:nvPr/>
        </p:nvSpPr>
        <p:spPr>
          <a:xfrm>
            <a:off x="1171440" y="3824280"/>
            <a:ext cx="894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Context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1066680" y="4167360"/>
            <a:ext cx="3322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b6b6b6"/>
                </a:solidFill>
                <a:latin typeface="Consolas"/>
                <a:ea typeface="Consolas"/>
              </a:rPr>
              <a:t>Background, constraints, definitions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219" name="Image 16" descr="preencoded.png"/>
          <p:cNvPicPr/>
          <p:nvPr/>
        </p:nvPicPr>
        <p:blipFill>
          <a:blip r:embed="rId17"/>
          <a:stretch/>
        </p:blipFill>
        <p:spPr>
          <a:xfrm>
            <a:off x="828720" y="4857840"/>
            <a:ext cx="209160" cy="218880"/>
          </a:xfrm>
          <a:prstGeom prst="rect">
            <a:avLst/>
          </a:prstGeom>
          <a:ln w="0">
            <a:noFill/>
          </a:ln>
        </p:spPr>
      </p:pic>
      <p:sp>
        <p:nvSpPr>
          <p:cNvPr id="220" name="Text 6"/>
          <p:cNvSpPr/>
          <p:nvPr/>
        </p:nvSpPr>
        <p:spPr>
          <a:xfrm>
            <a:off x="1143000" y="4815000"/>
            <a:ext cx="5043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Task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1066680" y="5157720"/>
            <a:ext cx="332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b6b6b6"/>
                </a:solidFill>
                <a:latin typeface="Consolas"/>
                <a:ea typeface="Consolas"/>
              </a:rPr>
              <a:t>Deliverable + format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4817880" y="1495440"/>
            <a:ext cx="2390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6b6b6"/>
                </a:solidFill>
                <a:latin typeface="Consolas"/>
                <a:ea typeface="Consolas"/>
              </a:rPr>
              <a:t>Prompt Structure Example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223" name="Image 17" descr="preencoded.png"/>
          <p:cNvPicPr/>
          <p:nvPr/>
        </p:nvPicPr>
        <p:blipFill>
          <a:blip r:embed="rId18"/>
          <a:stretch/>
        </p:blipFill>
        <p:spPr>
          <a:xfrm>
            <a:off x="4800600" y="1514520"/>
            <a:ext cx="199800" cy="151920"/>
          </a:xfrm>
          <a:prstGeom prst="rect">
            <a:avLst/>
          </a:prstGeom>
          <a:ln w="0">
            <a:noFill/>
          </a:ln>
        </p:spPr>
      </p:pic>
      <p:sp>
        <p:nvSpPr>
          <p:cNvPr id="224" name="Text 9"/>
          <p:cNvSpPr/>
          <p:nvPr/>
        </p:nvSpPr>
        <p:spPr>
          <a:xfrm>
            <a:off x="4941720" y="2085840"/>
            <a:ext cx="1838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c1e328"/>
                </a:solidFill>
                <a:latin typeface="Consolas"/>
                <a:ea typeface="Consolas"/>
              </a:rPr>
              <a:t>ROLE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5" name="Text 10"/>
          <p:cNvSpPr/>
          <p:nvPr/>
        </p:nvSpPr>
        <p:spPr>
          <a:xfrm>
            <a:off x="4941720" y="2314440"/>
            <a:ext cx="183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Research Analyst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6" name="Text 11"/>
          <p:cNvSpPr/>
          <p:nvPr/>
        </p:nvSpPr>
        <p:spPr>
          <a:xfrm>
            <a:off x="7142400" y="2085840"/>
            <a:ext cx="1838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c1e328"/>
                </a:solidFill>
                <a:latin typeface="Consolas"/>
                <a:ea typeface="Consolas"/>
              </a:rPr>
              <a:t>CONTEXT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7142400" y="2314440"/>
            <a:ext cx="183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Strategy rules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8" name="Text 13"/>
          <p:cNvSpPr/>
          <p:nvPr/>
        </p:nvSpPr>
        <p:spPr>
          <a:xfrm>
            <a:off x="9343440" y="2085840"/>
            <a:ext cx="1838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c1e328"/>
                </a:solidFill>
                <a:latin typeface="Consolas"/>
                <a:ea typeface="Consolas"/>
              </a:rPr>
              <a:t>TASK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9" name="Text 14"/>
          <p:cNvSpPr/>
          <p:nvPr/>
        </p:nvSpPr>
        <p:spPr>
          <a:xfrm>
            <a:off x="9343440" y="2314440"/>
            <a:ext cx="183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Find trading strategy ideas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0" name="Text 15"/>
          <p:cNvSpPr/>
          <p:nvPr/>
        </p:nvSpPr>
        <p:spPr>
          <a:xfrm>
            <a:off x="4855680" y="3257640"/>
            <a:ext cx="76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b6b6b6"/>
                </a:solidFill>
                <a:highlight>
                  <a:srgbClr val="000000"/>
                </a:highlight>
                <a:latin typeface="Consolas"/>
                <a:ea typeface="Consolas"/>
              </a:rPr>
              <a:t>WORKFLOW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31" name="Text 16"/>
          <p:cNvSpPr/>
          <p:nvPr/>
        </p:nvSpPr>
        <p:spPr>
          <a:xfrm>
            <a:off x="762120" y="6381720"/>
            <a:ext cx="1066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Consolas"/>
                <a:ea typeface="Consolas"/>
              </a:rPr>
              <a:t>06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33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34" name="Image 2" descr="preencoded.png"/>
          <p:cNvPicPr/>
          <p:nvPr/>
        </p:nvPicPr>
        <p:blipFill>
          <a:blip r:embed="rId3"/>
          <a:stretch/>
        </p:blipFill>
        <p:spPr>
          <a:xfrm>
            <a:off x="5724360" y="961920"/>
            <a:ext cx="780840" cy="56880"/>
          </a:xfrm>
          <a:prstGeom prst="rect">
            <a:avLst/>
          </a:prstGeom>
          <a:ln w="0">
            <a:noFill/>
          </a:ln>
        </p:spPr>
      </p:pic>
      <p:pic>
        <p:nvPicPr>
          <p:cNvPr id="235" name="Image 3" descr="preencoded.png"/>
          <p:cNvPicPr/>
          <p:nvPr/>
        </p:nvPicPr>
        <p:blipFill>
          <a:blip r:embed="rId4"/>
          <a:stretch/>
        </p:blipFill>
        <p:spPr>
          <a:xfrm>
            <a:off x="561960" y="2171880"/>
            <a:ext cx="5057280" cy="3571560"/>
          </a:xfrm>
          <a:prstGeom prst="rect">
            <a:avLst/>
          </a:prstGeom>
          <a:ln w="0">
            <a:noFill/>
          </a:ln>
        </p:spPr>
      </p:pic>
      <p:pic>
        <p:nvPicPr>
          <p:cNvPr id="236" name="Image 4" descr="preencoded.png"/>
          <p:cNvPicPr/>
          <p:nvPr/>
        </p:nvPicPr>
        <p:blipFill>
          <a:blip r:embed="rId5"/>
          <a:stretch/>
        </p:blipFill>
        <p:spPr>
          <a:xfrm>
            <a:off x="1085760" y="4638600"/>
            <a:ext cx="1609200" cy="342720"/>
          </a:xfrm>
          <a:prstGeom prst="rect">
            <a:avLst/>
          </a:prstGeom>
          <a:ln w="0">
            <a:noFill/>
          </a:ln>
        </p:spPr>
      </p:pic>
      <p:pic>
        <p:nvPicPr>
          <p:cNvPr id="237" name="Image 5" descr="preencoded.png"/>
          <p:cNvPicPr/>
          <p:nvPr/>
        </p:nvPicPr>
        <p:blipFill>
          <a:blip r:embed="rId6"/>
          <a:stretch/>
        </p:blipFill>
        <p:spPr>
          <a:xfrm>
            <a:off x="5715000" y="2438280"/>
            <a:ext cx="5724000" cy="837720"/>
          </a:xfrm>
          <a:prstGeom prst="rect">
            <a:avLst/>
          </a:prstGeom>
          <a:ln w="0">
            <a:noFill/>
          </a:ln>
        </p:spPr>
      </p:pic>
      <p:pic>
        <p:nvPicPr>
          <p:cNvPr id="238" name="Image 6" descr="preencoded.png"/>
          <p:cNvPicPr/>
          <p:nvPr/>
        </p:nvPicPr>
        <p:blipFill>
          <a:blip r:embed="rId7"/>
          <a:stretch/>
        </p:blipFill>
        <p:spPr>
          <a:xfrm>
            <a:off x="5877000" y="2638440"/>
            <a:ext cx="409320" cy="399600"/>
          </a:xfrm>
          <a:prstGeom prst="rect">
            <a:avLst/>
          </a:prstGeom>
          <a:ln w="0">
            <a:noFill/>
          </a:ln>
        </p:spPr>
      </p:pic>
      <p:pic>
        <p:nvPicPr>
          <p:cNvPr id="239" name="Image 7" descr="preencoded.png"/>
          <p:cNvPicPr/>
          <p:nvPr/>
        </p:nvPicPr>
        <p:blipFill>
          <a:blip r:embed="rId8"/>
          <a:stretch/>
        </p:blipFill>
        <p:spPr>
          <a:xfrm>
            <a:off x="5715000" y="3371760"/>
            <a:ext cx="5724000" cy="837720"/>
          </a:xfrm>
          <a:prstGeom prst="rect">
            <a:avLst/>
          </a:prstGeom>
          <a:ln w="0">
            <a:noFill/>
          </a:ln>
        </p:spPr>
      </p:pic>
      <p:pic>
        <p:nvPicPr>
          <p:cNvPr id="240" name="Image 8" descr="preencoded.png"/>
          <p:cNvPicPr/>
          <p:nvPr/>
        </p:nvPicPr>
        <p:blipFill>
          <a:blip r:embed="rId9"/>
          <a:stretch/>
        </p:blipFill>
        <p:spPr>
          <a:xfrm>
            <a:off x="5877000" y="3571920"/>
            <a:ext cx="409320" cy="399600"/>
          </a:xfrm>
          <a:prstGeom prst="rect">
            <a:avLst/>
          </a:prstGeom>
          <a:ln w="0">
            <a:noFill/>
          </a:ln>
        </p:spPr>
      </p:pic>
      <p:pic>
        <p:nvPicPr>
          <p:cNvPr id="241" name="Image 9" descr="preencoded.png"/>
          <p:cNvPicPr/>
          <p:nvPr/>
        </p:nvPicPr>
        <p:blipFill>
          <a:blip r:embed="rId10"/>
          <a:stretch/>
        </p:blipFill>
        <p:spPr>
          <a:xfrm>
            <a:off x="5715000" y="4305240"/>
            <a:ext cx="5724000" cy="837720"/>
          </a:xfrm>
          <a:prstGeom prst="rect">
            <a:avLst/>
          </a:prstGeom>
          <a:ln w="0">
            <a:noFill/>
          </a:ln>
        </p:spPr>
      </p:pic>
      <p:pic>
        <p:nvPicPr>
          <p:cNvPr id="242" name="Image 10" descr="preencoded.png"/>
          <p:cNvPicPr/>
          <p:nvPr/>
        </p:nvPicPr>
        <p:blipFill>
          <a:blip r:embed="rId11"/>
          <a:stretch/>
        </p:blipFill>
        <p:spPr>
          <a:xfrm>
            <a:off x="5877000" y="4505400"/>
            <a:ext cx="409320" cy="399600"/>
          </a:xfrm>
          <a:prstGeom prst="rect">
            <a:avLst/>
          </a:prstGeom>
          <a:ln w="0">
            <a:noFill/>
          </a:ln>
        </p:spPr>
      </p:pic>
      <p:pic>
        <p:nvPicPr>
          <p:cNvPr id="243" name="Image 11" descr="preencoded.png"/>
          <p:cNvPicPr/>
          <p:nvPr/>
        </p:nvPicPr>
        <p:blipFill>
          <a:blip r:embed="rId12"/>
          <a:stretch/>
        </p:blipFill>
        <p:spPr>
          <a:xfrm>
            <a:off x="5715000" y="5353200"/>
            <a:ext cx="5724000" cy="732960"/>
          </a:xfrm>
          <a:prstGeom prst="rect">
            <a:avLst/>
          </a:prstGeom>
          <a:ln w="0">
            <a:noFill/>
          </a:ln>
        </p:spPr>
      </p:pic>
      <p:sp>
        <p:nvSpPr>
          <p:cNvPr id="244" name="Text 0"/>
          <p:cNvSpPr/>
          <p:nvPr/>
        </p:nvSpPr>
        <p:spPr>
          <a:xfrm>
            <a:off x="762120" y="762120"/>
            <a:ext cx="474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AI Tools for Research</a:t>
            </a:r>
            <a:endParaRPr b="0" lang="en-IN" sz="3400" spc="-1" strike="noStrike">
              <a:latin typeface="Arial"/>
            </a:endParaRPr>
          </a:p>
        </p:txBody>
      </p:sp>
      <p:pic>
        <p:nvPicPr>
          <p:cNvPr id="245" name="Image 12" descr="preencoded.png"/>
          <p:cNvPicPr/>
          <p:nvPr/>
        </p:nvPicPr>
        <p:blipFill>
          <a:blip r:embed="rId13"/>
          <a:stretch/>
        </p:blipFill>
        <p:spPr>
          <a:xfrm>
            <a:off x="933480" y="2543040"/>
            <a:ext cx="4314600" cy="2590560"/>
          </a:xfrm>
          <a:prstGeom prst="rect">
            <a:avLst/>
          </a:prstGeom>
          <a:ln w="0">
            <a:noFill/>
          </a:ln>
        </p:spPr>
      </p:pic>
      <p:sp>
        <p:nvSpPr>
          <p:cNvPr id="246" name="Text 1"/>
          <p:cNvSpPr/>
          <p:nvPr/>
        </p:nvSpPr>
        <p:spPr>
          <a:xfrm>
            <a:off x="1265040" y="4734000"/>
            <a:ext cx="12571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c1e328"/>
                </a:solidFill>
                <a:latin typeface="Consolas"/>
                <a:ea typeface="Consolas"/>
              </a:rPr>
              <a:t>RESEARCH TOOLKIT</a:t>
            </a:r>
            <a:endParaRPr b="0" lang="en-IN" sz="800" spc="-1" strike="noStrike">
              <a:latin typeface="Arial"/>
            </a:endParaRPr>
          </a:p>
        </p:txBody>
      </p:sp>
      <p:pic>
        <p:nvPicPr>
          <p:cNvPr id="247" name="Image 13" descr="preencoded.png"/>
          <p:cNvPicPr/>
          <p:nvPr/>
        </p:nvPicPr>
        <p:blipFill>
          <a:blip r:embed="rId14"/>
          <a:stretch/>
        </p:blipFill>
        <p:spPr>
          <a:xfrm>
            <a:off x="1247760" y="4743360"/>
            <a:ext cx="142560" cy="132840"/>
          </a:xfrm>
          <a:prstGeom prst="rect">
            <a:avLst/>
          </a:prstGeom>
          <a:ln w="0">
            <a:noFill/>
          </a:ln>
        </p:spPr>
      </p:pic>
      <p:pic>
        <p:nvPicPr>
          <p:cNvPr id="248" name="Image 14" descr="preencoded.png"/>
          <p:cNvPicPr/>
          <p:nvPr/>
        </p:nvPicPr>
        <p:blipFill>
          <a:blip r:embed="rId15"/>
          <a:stretch/>
        </p:blipFill>
        <p:spPr>
          <a:xfrm>
            <a:off x="5715000" y="1590840"/>
            <a:ext cx="5724000" cy="637920"/>
          </a:xfrm>
          <a:prstGeom prst="rect">
            <a:avLst/>
          </a:prstGeom>
          <a:ln w="0">
            <a:noFill/>
          </a:ln>
        </p:spPr>
      </p:pic>
      <p:sp>
        <p:nvSpPr>
          <p:cNvPr id="249" name="Text 2"/>
          <p:cNvSpPr/>
          <p:nvPr/>
        </p:nvSpPr>
        <p:spPr>
          <a:xfrm>
            <a:off x="5958720" y="1600200"/>
            <a:ext cx="54709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1e328"/>
                </a:solidFill>
                <a:latin typeface="Consolas"/>
                <a:ea typeface="Consolas"/>
              </a:rPr>
              <a:t>Think of AI as a toolbox—different tools for different research tasks.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250" name="Image 15" descr="preencoded.png"/>
          <p:cNvPicPr/>
          <p:nvPr/>
        </p:nvPicPr>
        <p:blipFill>
          <a:blip r:embed="rId16"/>
          <a:stretch/>
        </p:blipFill>
        <p:spPr>
          <a:xfrm>
            <a:off x="6010200" y="2752560"/>
            <a:ext cx="142560" cy="171000"/>
          </a:xfrm>
          <a:prstGeom prst="rect">
            <a:avLst/>
          </a:prstGeom>
          <a:ln w="0">
            <a:noFill/>
          </a:ln>
        </p:spPr>
      </p:pic>
      <p:sp>
        <p:nvSpPr>
          <p:cNvPr id="251" name="Text 3"/>
          <p:cNvSpPr/>
          <p:nvPr/>
        </p:nvSpPr>
        <p:spPr>
          <a:xfrm>
            <a:off x="6425640" y="2610000"/>
            <a:ext cx="2647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Research &amp; Idea Generation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6425640" y="2914560"/>
            <a:ext cx="2647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Consolas"/>
                <a:ea typeface="Consolas"/>
              </a:rPr>
              <a:t>Summaries, hypotheses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253" name="Image 16" descr="preencoded.png"/>
          <p:cNvPicPr/>
          <p:nvPr/>
        </p:nvPicPr>
        <p:blipFill>
          <a:blip r:embed="rId17"/>
          <a:stretch/>
        </p:blipFill>
        <p:spPr>
          <a:xfrm>
            <a:off x="5991120" y="3686040"/>
            <a:ext cx="180720" cy="171000"/>
          </a:xfrm>
          <a:prstGeom prst="rect">
            <a:avLst/>
          </a:prstGeom>
          <a:ln w="0">
            <a:noFill/>
          </a:ln>
        </p:spPr>
      </p:pic>
      <p:sp>
        <p:nvSpPr>
          <p:cNvPr id="254" name="Text 5"/>
          <p:cNvSpPr/>
          <p:nvPr/>
        </p:nvSpPr>
        <p:spPr>
          <a:xfrm>
            <a:off x="6425640" y="3543480"/>
            <a:ext cx="1904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Excel Help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55" name="Text 6"/>
          <p:cNvSpPr/>
          <p:nvPr/>
        </p:nvSpPr>
        <p:spPr>
          <a:xfrm>
            <a:off x="6425640" y="3848040"/>
            <a:ext cx="1904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Consolas"/>
                <a:ea typeface="Consolas"/>
              </a:rPr>
              <a:t>Formulas, transformations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256" name="Image 17" descr="preencoded.png"/>
          <p:cNvPicPr/>
          <p:nvPr/>
        </p:nvPicPr>
        <p:blipFill>
          <a:blip r:embed="rId18"/>
          <a:stretch/>
        </p:blipFill>
        <p:spPr>
          <a:xfrm>
            <a:off x="5981760" y="4619520"/>
            <a:ext cx="199800" cy="171000"/>
          </a:xfrm>
          <a:prstGeom prst="rect">
            <a:avLst/>
          </a:prstGeom>
          <a:ln w="0">
            <a:noFill/>
          </a:ln>
        </p:spPr>
      </p:pic>
      <p:sp>
        <p:nvSpPr>
          <p:cNvPr id="257" name="Text 7"/>
          <p:cNvSpPr/>
          <p:nvPr/>
        </p:nvSpPr>
        <p:spPr>
          <a:xfrm>
            <a:off x="6425640" y="4476600"/>
            <a:ext cx="2666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Data Analysis Assistance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58" name="Text 8"/>
          <p:cNvSpPr/>
          <p:nvPr/>
        </p:nvSpPr>
        <p:spPr>
          <a:xfrm>
            <a:off x="6425640" y="4781520"/>
            <a:ext cx="2666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Consolas"/>
                <a:ea typeface="Consolas"/>
              </a:rPr>
              <a:t>Quick interpretations, explanations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59" name="Text 9"/>
          <p:cNvSpPr/>
          <p:nvPr/>
        </p:nvSpPr>
        <p:spPr>
          <a:xfrm>
            <a:off x="5730120" y="5448240"/>
            <a:ext cx="5699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b6b6b6"/>
                </a:solidFill>
                <a:latin typeface="Consolas"/>
                <a:ea typeface="Consolas"/>
              </a:rPr>
              <a:t>Output Examples</a:t>
            </a:r>
            <a:endParaRPr b="0" lang="en-IN" sz="800" spc="-1" strike="noStrike">
              <a:latin typeface="Arial"/>
            </a:endParaRPr>
          </a:p>
        </p:txBody>
      </p:sp>
      <p:pic>
        <p:nvPicPr>
          <p:cNvPr id="260" name="Image 18" descr="preencoded.png"/>
          <p:cNvPicPr/>
          <p:nvPr/>
        </p:nvPicPr>
        <p:blipFill>
          <a:blip r:embed="rId19"/>
          <a:stretch/>
        </p:blipFill>
        <p:spPr>
          <a:xfrm>
            <a:off x="5715000" y="5705640"/>
            <a:ext cx="999720" cy="380520"/>
          </a:xfrm>
          <a:prstGeom prst="rect">
            <a:avLst/>
          </a:prstGeom>
          <a:ln w="0">
            <a:noFill/>
          </a:ln>
        </p:spPr>
      </p:pic>
      <p:sp>
        <p:nvSpPr>
          <p:cNvPr id="261" name="Text 10"/>
          <p:cNvSpPr/>
          <p:nvPr/>
        </p:nvSpPr>
        <p:spPr>
          <a:xfrm>
            <a:off x="6082560" y="5810400"/>
            <a:ext cx="4568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highlight>
                  <a:srgbClr val="0a0a0a"/>
                </a:highlight>
                <a:latin typeface="Consolas"/>
                <a:ea typeface="Consolas"/>
              </a:rPr>
              <a:t>Charts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262" name="Image 19" descr="preencoded.png"/>
          <p:cNvPicPr/>
          <p:nvPr/>
        </p:nvPicPr>
        <p:blipFill>
          <a:blip r:embed="rId20"/>
          <a:stretch/>
        </p:blipFill>
        <p:spPr>
          <a:xfrm>
            <a:off x="5877000" y="5829480"/>
            <a:ext cx="142560" cy="132840"/>
          </a:xfrm>
          <a:prstGeom prst="rect">
            <a:avLst/>
          </a:prstGeom>
          <a:ln w="0">
            <a:noFill/>
          </a:ln>
        </p:spPr>
      </p:pic>
      <p:pic>
        <p:nvPicPr>
          <p:cNvPr id="263" name="Image 20" descr="preencoded.png"/>
          <p:cNvPicPr/>
          <p:nvPr/>
        </p:nvPicPr>
        <p:blipFill>
          <a:blip r:embed="rId21"/>
          <a:stretch/>
        </p:blipFill>
        <p:spPr>
          <a:xfrm>
            <a:off x="6800760" y="5705640"/>
            <a:ext cx="1047240" cy="380520"/>
          </a:xfrm>
          <a:prstGeom prst="rect">
            <a:avLst/>
          </a:prstGeom>
          <a:ln w="0">
            <a:noFill/>
          </a:ln>
        </p:spPr>
      </p:pic>
      <p:sp>
        <p:nvSpPr>
          <p:cNvPr id="264" name="Text 11"/>
          <p:cNvSpPr/>
          <p:nvPr/>
        </p:nvSpPr>
        <p:spPr>
          <a:xfrm>
            <a:off x="7139880" y="5810400"/>
            <a:ext cx="5331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highlight>
                  <a:srgbClr val="0a0a0a"/>
                </a:highlight>
                <a:latin typeface="Consolas"/>
                <a:ea typeface="Consolas"/>
              </a:rPr>
              <a:t>Reports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265" name="Image 21" descr="preencoded.png"/>
          <p:cNvPicPr/>
          <p:nvPr/>
        </p:nvPicPr>
        <p:blipFill>
          <a:blip r:embed="rId22"/>
          <a:stretch/>
        </p:blipFill>
        <p:spPr>
          <a:xfrm>
            <a:off x="6962760" y="5829480"/>
            <a:ext cx="114120" cy="132840"/>
          </a:xfrm>
          <a:prstGeom prst="rect">
            <a:avLst/>
          </a:prstGeom>
          <a:ln w="0">
            <a:noFill/>
          </a:ln>
        </p:spPr>
      </p:pic>
      <p:pic>
        <p:nvPicPr>
          <p:cNvPr id="266" name="Image 22" descr="preencoded.png"/>
          <p:cNvPicPr/>
          <p:nvPr/>
        </p:nvPicPr>
        <p:blipFill>
          <a:blip r:embed="rId23"/>
          <a:stretch/>
        </p:blipFill>
        <p:spPr>
          <a:xfrm>
            <a:off x="7934400" y="5705640"/>
            <a:ext cx="1428480" cy="380520"/>
          </a:xfrm>
          <a:prstGeom prst="rect">
            <a:avLst/>
          </a:prstGeom>
          <a:ln w="0">
            <a:noFill/>
          </a:ln>
        </p:spPr>
      </p:pic>
      <p:sp>
        <p:nvSpPr>
          <p:cNvPr id="267" name="Text 12"/>
          <p:cNvSpPr/>
          <p:nvPr/>
        </p:nvSpPr>
        <p:spPr>
          <a:xfrm>
            <a:off x="8273520" y="5810400"/>
            <a:ext cx="9140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highlight>
                  <a:srgbClr val="0a0a0a"/>
                </a:highlight>
                <a:latin typeface="Consolas"/>
                <a:ea typeface="Consolas"/>
              </a:rPr>
              <a:t>Spreadsheets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268" name="Image 23" descr="preencoded.png"/>
          <p:cNvPicPr/>
          <p:nvPr/>
        </p:nvPicPr>
        <p:blipFill>
          <a:blip r:embed="rId24"/>
          <a:stretch/>
        </p:blipFill>
        <p:spPr>
          <a:xfrm>
            <a:off x="8096400" y="5829480"/>
            <a:ext cx="114120" cy="132840"/>
          </a:xfrm>
          <a:prstGeom prst="rect">
            <a:avLst/>
          </a:prstGeom>
          <a:ln w="0">
            <a:noFill/>
          </a:ln>
        </p:spPr>
      </p:pic>
      <p:sp>
        <p:nvSpPr>
          <p:cNvPr id="269" name="Text 13"/>
          <p:cNvSpPr/>
          <p:nvPr/>
        </p:nvSpPr>
        <p:spPr>
          <a:xfrm>
            <a:off x="762120" y="6381720"/>
            <a:ext cx="1066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Consolas"/>
                <a:ea typeface="Consolas"/>
              </a:rPr>
              <a:t>07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71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72" name="Image 2" descr="preencoded.png"/>
          <p:cNvPicPr/>
          <p:nvPr/>
        </p:nvPicPr>
        <p:blipFill>
          <a:blip r:embed="rId3"/>
          <a:stretch/>
        </p:blipFill>
        <p:spPr>
          <a:xfrm>
            <a:off x="5181480" y="961920"/>
            <a:ext cx="780840" cy="56880"/>
          </a:xfrm>
          <a:prstGeom prst="rect">
            <a:avLst/>
          </a:prstGeom>
          <a:ln w="0">
            <a:noFill/>
          </a:ln>
        </p:spPr>
      </p:pic>
      <p:pic>
        <p:nvPicPr>
          <p:cNvPr id="273" name="Image 3" descr="preencoded.png"/>
          <p:cNvPicPr/>
          <p:nvPr/>
        </p:nvPicPr>
        <p:blipFill>
          <a:blip r:embed="rId4"/>
          <a:stretch/>
        </p:blipFill>
        <p:spPr>
          <a:xfrm>
            <a:off x="905040" y="2286000"/>
            <a:ext cx="3276360" cy="3952440"/>
          </a:xfrm>
          <a:prstGeom prst="rect">
            <a:avLst/>
          </a:prstGeom>
          <a:ln w="0">
            <a:noFill/>
          </a:ln>
        </p:spPr>
      </p:pic>
      <p:pic>
        <p:nvPicPr>
          <p:cNvPr id="274" name="Image 4" descr="preencoded.png"/>
          <p:cNvPicPr/>
          <p:nvPr/>
        </p:nvPicPr>
        <p:blipFill>
          <a:blip r:embed="rId5"/>
          <a:stretch/>
        </p:blipFill>
        <p:spPr>
          <a:xfrm>
            <a:off x="1219320" y="3286080"/>
            <a:ext cx="247320" cy="247320"/>
          </a:xfrm>
          <a:prstGeom prst="rect">
            <a:avLst/>
          </a:prstGeom>
          <a:ln w="0">
            <a:noFill/>
          </a:ln>
        </p:spPr>
      </p:pic>
      <p:pic>
        <p:nvPicPr>
          <p:cNvPr id="275" name="Image 5" descr="preencoded.png"/>
          <p:cNvPicPr/>
          <p:nvPr/>
        </p:nvPicPr>
        <p:blipFill>
          <a:blip r:embed="rId6"/>
          <a:stretch/>
        </p:blipFill>
        <p:spPr>
          <a:xfrm>
            <a:off x="1219320" y="3943440"/>
            <a:ext cx="247320" cy="247320"/>
          </a:xfrm>
          <a:prstGeom prst="rect">
            <a:avLst/>
          </a:prstGeom>
          <a:ln w="0">
            <a:noFill/>
          </a:ln>
        </p:spPr>
      </p:pic>
      <p:pic>
        <p:nvPicPr>
          <p:cNvPr id="276" name="Image 6" descr="preencoded.png"/>
          <p:cNvPicPr/>
          <p:nvPr/>
        </p:nvPicPr>
        <p:blipFill>
          <a:blip r:embed="rId7"/>
          <a:stretch/>
        </p:blipFill>
        <p:spPr>
          <a:xfrm>
            <a:off x="4467240" y="4229280"/>
            <a:ext cx="3257280" cy="66240"/>
          </a:xfrm>
          <a:prstGeom prst="rect">
            <a:avLst/>
          </a:prstGeom>
          <a:ln w="0">
            <a:noFill/>
          </a:ln>
        </p:spPr>
      </p:pic>
      <p:pic>
        <p:nvPicPr>
          <p:cNvPr id="277" name="Image 7" descr="preencoded.png"/>
          <p:cNvPicPr/>
          <p:nvPr/>
        </p:nvPicPr>
        <p:blipFill>
          <a:blip r:embed="rId8"/>
          <a:stretch/>
        </p:blipFill>
        <p:spPr>
          <a:xfrm>
            <a:off x="4371840" y="2533680"/>
            <a:ext cx="3447720" cy="3457080"/>
          </a:xfrm>
          <a:prstGeom prst="rect">
            <a:avLst/>
          </a:prstGeom>
          <a:ln w="0">
            <a:noFill/>
          </a:ln>
        </p:spPr>
      </p:pic>
      <p:pic>
        <p:nvPicPr>
          <p:cNvPr id="278" name="Image 8" descr="preencoded.png"/>
          <p:cNvPicPr/>
          <p:nvPr/>
        </p:nvPicPr>
        <p:blipFill>
          <a:blip r:embed="rId9"/>
          <a:stretch/>
        </p:blipFill>
        <p:spPr>
          <a:xfrm>
            <a:off x="4200480" y="2362320"/>
            <a:ext cx="3790440" cy="4038120"/>
          </a:xfrm>
          <a:prstGeom prst="rect">
            <a:avLst/>
          </a:prstGeom>
          <a:ln w="0">
            <a:noFill/>
          </a:ln>
        </p:spPr>
      </p:pic>
      <p:pic>
        <p:nvPicPr>
          <p:cNvPr id="279" name="Image 9" descr="preencoded.png"/>
          <p:cNvPicPr/>
          <p:nvPr/>
        </p:nvPicPr>
        <p:blipFill>
          <a:blip r:embed="rId10"/>
          <a:stretch/>
        </p:blipFill>
        <p:spPr>
          <a:xfrm>
            <a:off x="7724880" y="2000160"/>
            <a:ext cx="3847680" cy="4524120"/>
          </a:xfrm>
          <a:prstGeom prst="rect">
            <a:avLst/>
          </a:prstGeom>
          <a:ln w="0">
            <a:noFill/>
          </a:ln>
        </p:spPr>
      </p:pic>
      <p:pic>
        <p:nvPicPr>
          <p:cNvPr id="280" name="Image 10" descr="preencoded.png"/>
          <p:cNvPicPr/>
          <p:nvPr/>
        </p:nvPicPr>
        <p:blipFill>
          <a:blip r:embed="rId11"/>
          <a:stretch/>
        </p:blipFill>
        <p:spPr>
          <a:xfrm>
            <a:off x="8334360" y="3295800"/>
            <a:ext cx="247320" cy="247320"/>
          </a:xfrm>
          <a:prstGeom prst="rect">
            <a:avLst/>
          </a:prstGeom>
          <a:ln w="0">
            <a:noFill/>
          </a:ln>
        </p:spPr>
      </p:pic>
      <p:pic>
        <p:nvPicPr>
          <p:cNvPr id="281" name="Image 11" descr="preencoded.png"/>
          <p:cNvPicPr/>
          <p:nvPr/>
        </p:nvPicPr>
        <p:blipFill>
          <a:blip r:embed="rId12"/>
          <a:stretch/>
        </p:blipFill>
        <p:spPr>
          <a:xfrm>
            <a:off x="8334360" y="3790800"/>
            <a:ext cx="247320" cy="247320"/>
          </a:xfrm>
          <a:prstGeom prst="rect">
            <a:avLst/>
          </a:prstGeom>
          <a:ln w="0">
            <a:noFill/>
          </a:ln>
        </p:spPr>
      </p:pic>
      <p:pic>
        <p:nvPicPr>
          <p:cNvPr id="282" name="Image 12" descr="preencoded.png"/>
          <p:cNvPicPr/>
          <p:nvPr/>
        </p:nvPicPr>
        <p:blipFill>
          <a:blip r:embed="rId13"/>
          <a:stretch/>
        </p:blipFill>
        <p:spPr>
          <a:xfrm>
            <a:off x="8334360" y="4448160"/>
            <a:ext cx="247320" cy="247320"/>
          </a:xfrm>
          <a:prstGeom prst="rect">
            <a:avLst/>
          </a:prstGeom>
          <a:ln w="0">
            <a:noFill/>
          </a:ln>
        </p:spPr>
      </p:pic>
      <p:sp>
        <p:nvSpPr>
          <p:cNvPr id="283" name="Text 0"/>
          <p:cNvSpPr/>
          <p:nvPr/>
        </p:nvSpPr>
        <p:spPr>
          <a:xfrm>
            <a:off x="762120" y="762120"/>
            <a:ext cx="420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AI in Our Company</a:t>
            </a:r>
            <a:endParaRPr b="0" lang="en-IN" sz="3400" spc="-1" strike="noStrike">
              <a:latin typeface="Arial"/>
            </a:endParaRPr>
          </a:p>
        </p:txBody>
      </p:sp>
      <p:pic>
        <p:nvPicPr>
          <p:cNvPr id="284" name="Image 13" descr="preencoded.png"/>
          <p:cNvPicPr/>
          <p:nvPr/>
        </p:nvPicPr>
        <p:blipFill>
          <a:blip r:embed="rId14"/>
          <a:stretch/>
        </p:blipFill>
        <p:spPr>
          <a:xfrm>
            <a:off x="1400040" y="1514520"/>
            <a:ext cx="9391320" cy="485280"/>
          </a:xfrm>
          <a:prstGeom prst="rect">
            <a:avLst/>
          </a:prstGeom>
          <a:ln w="0">
            <a:noFill/>
          </a:ln>
        </p:spPr>
      </p:pic>
      <p:sp>
        <p:nvSpPr>
          <p:cNvPr id="285" name="Text 1"/>
          <p:cNvSpPr/>
          <p:nvPr/>
        </p:nvSpPr>
        <p:spPr>
          <a:xfrm>
            <a:off x="1562040" y="1523880"/>
            <a:ext cx="906732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c1e328"/>
                </a:solidFill>
                <a:latin typeface="Consolas"/>
                <a:ea typeface="Consolas"/>
              </a:rPr>
              <a:t>AI reduces repetitive work so analysts spend more time on decisions.</a:t>
            </a:r>
            <a:endParaRPr b="0" lang="en-IN" sz="1700" spc="-1" strike="noStrike">
              <a:latin typeface="Arial"/>
            </a:endParaRPr>
          </a:p>
        </p:txBody>
      </p:sp>
      <p:pic>
        <p:nvPicPr>
          <p:cNvPr id="286" name="Image 14" descr="preencoded.png"/>
          <p:cNvPicPr/>
          <p:nvPr/>
        </p:nvPicPr>
        <p:blipFill>
          <a:blip r:embed="rId15"/>
          <a:stretch/>
        </p:blipFill>
        <p:spPr>
          <a:xfrm>
            <a:off x="3448080" y="2295360"/>
            <a:ext cx="723600" cy="399600"/>
          </a:xfrm>
          <a:prstGeom prst="rect">
            <a:avLst/>
          </a:prstGeom>
          <a:ln w="0">
            <a:noFill/>
          </a:ln>
        </p:spPr>
      </p:pic>
      <p:sp>
        <p:nvSpPr>
          <p:cNvPr id="287" name="Text 2"/>
          <p:cNvSpPr/>
          <p:nvPr/>
        </p:nvSpPr>
        <p:spPr>
          <a:xfrm>
            <a:off x="3610080" y="23814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b6b6b6"/>
                </a:solidFill>
                <a:latin typeface="Consolas"/>
                <a:ea typeface="Consolas"/>
              </a:rPr>
              <a:t>Manual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1571760" y="2610000"/>
            <a:ext cx="9234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b6b6b6"/>
                </a:solidFill>
                <a:latin typeface="Arial"/>
                <a:ea typeface="Arial"/>
              </a:rPr>
              <a:t>Before</a:t>
            </a:r>
            <a:endParaRPr b="0" lang="en-IN" sz="2100" spc="-1" strike="noStrike">
              <a:latin typeface="Arial"/>
            </a:endParaRPr>
          </a:p>
        </p:txBody>
      </p:sp>
      <p:pic>
        <p:nvPicPr>
          <p:cNvPr id="289" name="Image 15" descr="preencoded.png"/>
          <p:cNvPicPr/>
          <p:nvPr/>
        </p:nvPicPr>
        <p:blipFill>
          <a:blip r:embed="rId16">
            <a:alphaModFix amt="50000"/>
          </a:blip>
          <a:stretch/>
        </p:blipFill>
        <p:spPr>
          <a:xfrm>
            <a:off x="1219320" y="2657520"/>
            <a:ext cx="247320" cy="247320"/>
          </a:xfrm>
          <a:prstGeom prst="rect">
            <a:avLst/>
          </a:prstGeom>
          <a:ln w="0">
            <a:noFill/>
          </a:ln>
        </p:spPr>
      </p:pic>
      <p:pic>
        <p:nvPicPr>
          <p:cNvPr id="290" name="Image 16" descr="preencoded.png"/>
          <p:cNvPicPr/>
          <p:nvPr/>
        </p:nvPicPr>
        <p:blipFill>
          <a:blip r:embed="rId17"/>
          <a:stretch/>
        </p:blipFill>
        <p:spPr>
          <a:xfrm>
            <a:off x="1276200" y="3343320"/>
            <a:ext cx="132840" cy="132840"/>
          </a:xfrm>
          <a:prstGeom prst="rect">
            <a:avLst/>
          </a:prstGeom>
          <a:ln w="0">
            <a:noFill/>
          </a:ln>
        </p:spPr>
      </p:pic>
      <p:sp>
        <p:nvSpPr>
          <p:cNvPr id="291" name="Text 4"/>
          <p:cNvSpPr/>
          <p:nvPr/>
        </p:nvSpPr>
        <p:spPr>
          <a:xfrm>
            <a:off x="1609560" y="3257640"/>
            <a:ext cx="22474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6b6b6"/>
                </a:solidFill>
                <a:latin typeface="Consolas"/>
                <a:ea typeface="Consolas"/>
              </a:rPr>
              <a:t>Time-consuming Excel cleanup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292" name="Image 17" descr="preencoded.png"/>
          <p:cNvPicPr/>
          <p:nvPr/>
        </p:nvPicPr>
        <p:blipFill>
          <a:blip r:embed="rId18"/>
          <a:stretch/>
        </p:blipFill>
        <p:spPr>
          <a:xfrm>
            <a:off x="1276200" y="4000680"/>
            <a:ext cx="132840" cy="132840"/>
          </a:xfrm>
          <a:prstGeom prst="rect">
            <a:avLst/>
          </a:prstGeom>
          <a:ln w="0">
            <a:noFill/>
          </a:ln>
        </p:spPr>
      </p:pic>
      <p:sp>
        <p:nvSpPr>
          <p:cNvPr id="293" name="Text 5"/>
          <p:cNvSpPr/>
          <p:nvPr/>
        </p:nvSpPr>
        <p:spPr>
          <a:xfrm>
            <a:off x="1609560" y="3914640"/>
            <a:ext cx="22474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6b6b6"/>
                </a:solidFill>
                <a:latin typeface="Consolas"/>
                <a:ea typeface="Consolas"/>
              </a:rPr>
              <a:t>Slow iteration on analysis and write-ups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294" name="Image 18" descr="preencoded.png"/>
          <p:cNvPicPr/>
          <p:nvPr/>
        </p:nvPicPr>
        <p:blipFill>
          <a:blip r:embed="rId19"/>
          <a:stretch/>
        </p:blipFill>
        <p:spPr>
          <a:xfrm>
            <a:off x="10210680" y="2305080"/>
            <a:ext cx="1056960" cy="399600"/>
          </a:xfrm>
          <a:prstGeom prst="rect">
            <a:avLst/>
          </a:prstGeom>
          <a:ln w="0">
            <a:noFill/>
          </a:ln>
        </p:spPr>
      </p:pic>
      <p:sp>
        <p:nvSpPr>
          <p:cNvPr id="295" name="Text 6"/>
          <p:cNvSpPr/>
          <p:nvPr/>
        </p:nvSpPr>
        <p:spPr>
          <a:xfrm>
            <a:off x="10372680" y="2390760"/>
            <a:ext cx="732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00000"/>
                </a:solidFill>
                <a:latin typeface="Consolas"/>
                <a:ea typeface="Consolas"/>
              </a:rPr>
              <a:t>AI-Assisted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96" name="Text 7"/>
          <p:cNvSpPr/>
          <p:nvPr/>
        </p:nvSpPr>
        <p:spPr>
          <a:xfrm>
            <a:off x="8744040" y="2619360"/>
            <a:ext cx="704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  <a:ea typeface="Arial"/>
              </a:rPr>
              <a:t>After</a:t>
            </a:r>
            <a:endParaRPr b="0" lang="en-IN" sz="2100" spc="-1" strike="noStrike">
              <a:latin typeface="Arial"/>
            </a:endParaRPr>
          </a:p>
        </p:txBody>
      </p:sp>
      <p:pic>
        <p:nvPicPr>
          <p:cNvPr id="297" name="Image 19" descr="preencoded.png"/>
          <p:cNvPicPr/>
          <p:nvPr/>
        </p:nvPicPr>
        <p:blipFill>
          <a:blip r:embed="rId20"/>
          <a:stretch/>
        </p:blipFill>
        <p:spPr>
          <a:xfrm>
            <a:off x="8334360" y="2666880"/>
            <a:ext cx="304560" cy="247320"/>
          </a:xfrm>
          <a:prstGeom prst="rect">
            <a:avLst/>
          </a:prstGeom>
          <a:ln w="0">
            <a:noFill/>
          </a:ln>
        </p:spPr>
      </p:pic>
      <p:pic>
        <p:nvPicPr>
          <p:cNvPr id="298" name="Image 20" descr="preencoded.png"/>
          <p:cNvPicPr/>
          <p:nvPr/>
        </p:nvPicPr>
        <p:blipFill>
          <a:blip r:embed="rId21"/>
          <a:stretch/>
        </p:blipFill>
        <p:spPr>
          <a:xfrm>
            <a:off x="8391600" y="3352680"/>
            <a:ext cx="132840" cy="132840"/>
          </a:xfrm>
          <a:prstGeom prst="rect">
            <a:avLst/>
          </a:prstGeom>
          <a:ln w="0">
            <a:noFill/>
          </a:ln>
        </p:spPr>
      </p:pic>
      <p:sp>
        <p:nvSpPr>
          <p:cNvPr id="299" name="Text 8"/>
          <p:cNvSpPr/>
          <p:nvPr/>
        </p:nvSpPr>
        <p:spPr>
          <a:xfrm>
            <a:off x="8724960" y="3267000"/>
            <a:ext cx="20952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Automate Excel tasks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00" name="Image 21" descr="preencoded.png"/>
          <p:cNvPicPr/>
          <p:nvPr/>
        </p:nvPicPr>
        <p:blipFill>
          <a:blip r:embed="rId22"/>
          <a:stretch/>
        </p:blipFill>
        <p:spPr>
          <a:xfrm>
            <a:off x="8391600" y="3848040"/>
            <a:ext cx="132840" cy="132840"/>
          </a:xfrm>
          <a:prstGeom prst="rect">
            <a:avLst/>
          </a:prstGeom>
          <a:ln w="0">
            <a:noFill/>
          </a:ln>
        </p:spPr>
      </p:pic>
      <p:sp>
        <p:nvSpPr>
          <p:cNvPr id="301" name="Text 9"/>
          <p:cNvSpPr/>
          <p:nvPr/>
        </p:nvSpPr>
        <p:spPr>
          <a:xfrm>
            <a:off x="8724960" y="3762360"/>
            <a:ext cx="22284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Speed up research analysis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02" name="Image 22" descr="preencoded.png"/>
          <p:cNvPicPr/>
          <p:nvPr/>
        </p:nvPicPr>
        <p:blipFill>
          <a:blip r:embed="rId23"/>
          <a:stretch/>
        </p:blipFill>
        <p:spPr>
          <a:xfrm>
            <a:off x="8391600" y="4505400"/>
            <a:ext cx="132840" cy="132840"/>
          </a:xfrm>
          <a:prstGeom prst="rect">
            <a:avLst/>
          </a:prstGeom>
          <a:ln w="0">
            <a:noFill/>
          </a:ln>
        </p:spPr>
      </p:pic>
      <p:sp>
        <p:nvSpPr>
          <p:cNvPr id="303" name="Text 10"/>
          <p:cNvSpPr/>
          <p:nvPr/>
        </p:nvSpPr>
        <p:spPr>
          <a:xfrm>
            <a:off x="8724960" y="4419720"/>
            <a:ext cx="22284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Generate strategy ideas faster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4" name="Text 11"/>
          <p:cNvSpPr/>
          <p:nvPr/>
        </p:nvSpPr>
        <p:spPr>
          <a:xfrm>
            <a:off x="762120" y="6381720"/>
            <a:ext cx="1066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Consolas"/>
                <a:ea typeface="Consolas"/>
              </a:rPr>
              <a:t>08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305" name="Image 23" descr="preencoded.png"/>
          <p:cNvPicPr/>
          <p:nvPr/>
        </p:nvPicPr>
        <p:blipFill>
          <a:blip r:embed="rId24"/>
          <a:stretch/>
        </p:blipFill>
        <p:spPr>
          <a:xfrm>
            <a:off x="5743440" y="3905280"/>
            <a:ext cx="704520" cy="809280"/>
          </a:xfrm>
          <a:prstGeom prst="rect">
            <a:avLst/>
          </a:prstGeom>
          <a:ln w="0">
            <a:noFill/>
          </a:ln>
        </p:spPr>
      </p:pic>
      <p:pic>
        <p:nvPicPr>
          <p:cNvPr id="306" name="Image 24" descr="preencoded.png"/>
          <p:cNvPicPr/>
          <p:nvPr/>
        </p:nvPicPr>
        <p:blipFill>
          <a:blip r:embed="rId25"/>
          <a:stretch/>
        </p:blipFill>
        <p:spPr>
          <a:xfrm>
            <a:off x="6000840" y="4152960"/>
            <a:ext cx="190080" cy="21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08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09" name="Image 2" descr="preencoded.png"/>
          <p:cNvPicPr/>
          <p:nvPr/>
        </p:nvPicPr>
        <p:blipFill>
          <a:blip r:embed="rId3"/>
          <a:stretch/>
        </p:blipFill>
        <p:spPr>
          <a:xfrm>
            <a:off x="6962760" y="961920"/>
            <a:ext cx="780840" cy="56880"/>
          </a:xfrm>
          <a:prstGeom prst="rect">
            <a:avLst/>
          </a:prstGeom>
          <a:ln w="0">
            <a:noFill/>
          </a:ln>
        </p:spPr>
      </p:pic>
      <p:pic>
        <p:nvPicPr>
          <p:cNvPr id="310" name="Image 3" descr="preencoded.png"/>
          <p:cNvPicPr/>
          <p:nvPr/>
        </p:nvPicPr>
        <p:blipFill>
          <a:blip r:embed="rId4"/>
          <a:stretch/>
        </p:blipFill>
        <p:spPr>
          <a:xfrm>
            <a:off x="752400" y="2400480"/>
            <a:ext cx="95040" cy="95040"/>
          </a:xfrm>
          <a:prstGeom prst="rect">
            <a:avLst/>
          </a:prstGeom>
          <a:ln w="0">
            <a:noFill/>
          </a:ln>
        </p:spPr>
      </p:pic>
      <p:pic>
        <p:nvPicPr>
          <p:cNvPr id="311" name="Image 4" descr="preencoded.png"/>
          <p:cNvPicPr/>
          <p:nvPr/>
        </p:nvPicPr>
        <p:blipFill>
          <a:blip r:embed="rId5"/>
          <a:stretch/>
        </p:blipFill>
        <p:spPr>
          <a:xfrm>
            <a:off x="752400" y="2857680"/>
            <a:ext cx="95040" cy="95040"/>
          </a:xfrm>
          <a:prstGeom prst="rect">
            <a:avLst/>
          </a:prstGeom>
          <a:ln w="0">
            <a:noFill/>
          </a:ln>
        </p:spPr>
      </p:pic>
      <p:pic>
        <p:nvPicPr>
          <p:cNvPr id="312" name="Image 5" descr="preencoded.png"/>
          <p:cNvPicPr/>
          <p:nvPr/>
        </p:nvPicPr>
        <p:blipFill>
          <a:blip r:embed="rId6"/>
          <a:stretch/>
        </p:blipFill>
        <p:spPr>
          <a:xfrm>
            <a:off x="752400" y="3314880"/>
            <a:ext cx="95040" cy="95040"/>
          </a:xfrm>
          <a:prstGeom prst="rect">
            <a:avLst/>
          </a:prstGeom>
          <a:ln w="0">
            <a:noFill/>
          </a:ln>
        </p:spPr>
      </p:pic>
      <p:pic>
        <p:nvPicPr>
          <p:cNvPr id="313" name="Image 6" descr="preencoded.png"/>
          <p:cNvPicPr/>
          <p:nvPr/>
        </p:nvPicPr>
        <p:blipFill>
          <a:blip r:embed="rId7"/>
          <a:stretch/>
        </p:blipFill>
        <p:spPr>
          <a:xfrm>
            <a:off x="752400" y="3838680"/>
            <a:ext cx="5200200" cy="2400120"/>
          </a:xfrm>
          <a:prstGeom prst="rect">
            <a:avLst/>
          </a:prstGeom>
          <a:ln w="0">
            <a:noFill/>
          </a:ln>
        </p:spPr>
      </p:pic>
      <p:pic>
        <p:nvPicPr>
          <p:cNvPr id="314" name="Image 7" descr="preencoded.png"/>
          <p:cNvPicPr/>
          <p:nvPr/>
        </p:nvPicPr>
        <p:blipFill>
          <a:blip r:embed="rId8"/>
          <a:stretch/>
        </p:blipFill>
        <p:spPr>
          <a:xfrm>
            <a:off x="1057320" y="4419720"/>
            <a:ext cx="37800" cy="1542600"/>
          </a:xfrm>
          <a:prstGeom prst="rect">
            <a:avLst/>
          </a:prstGeom>
          <a:ln w="0">
            <a:noFill/>
          </a:ln>
        </p:spPr>
      </p:pic>
      <p:pic>
        <p:nvPicPr>
          <p:cNvPr id="315" name="Image 8" descr="preencoded.png"/>
          <p:cNvPicPr/>
          <p:nvPr/>
        </p:nvPicPr>
        <p:blipFill>
          <a:blip r:embed="rId9"/>
          <a:stretch/>
        </p:blipFill>
        <p:spPr>
          <a:xfrm>
            <a:off x="914400" y="4305240"/>
            <a:ext cx="323640" cy="323640"/>
          </a:xfrm>
          <a:prstGeom prst="rect">
            <a:avLst/>
          </a:prstGeom>
          <a:ln w="0">
            <a:noFill/>
          </a:ln>
        </p:spPr>
      </p:pic>
      <p:pic>
        <p:nvPicPr>
          <p:cNvPr id="316" name="Image 9" descr="preencoded.png"/>
          <p:cNvPicPr/>
          <p:nvPr/>
        </p:nvPicPr>
        <p:blipFill>
          <a:blip r:embed="rId10"/>
          <a:stretch/>
        </p:blipFill>
        <p:spPr>
          <a:xfrm>
            <a:off x="914400" y="4667400"/>
            <a:ext cx="323640" cy="323640"/>
          </a:xfrm>
          <a:prstGeom prst="rect">
            <a:avLst/>
          </a:prstGeom>
          <a:ln w="0">
            <a:noFill/>
          </a:ln>
        </p:spPr>
      </p:pic>
      <p:pic>
        <p:nvPicPr>
          <p:cNvPr id="317" name="Image 10" descr="preencoded.png"/>
          <p:cNvPicPr/>
          <p:nvPr/>
        </p:nvPicPr>
        <p:blipFill>
          <a:blip r:embed="rId11"/>
          <a:stretch/>
        </p:blipFill>
        <p:spPr>
          <a:xfrm>
            <a:off x="914400" y="5029200"/>
            <a:ext cx="323640" cy="323640"/>
          </a:xfrm>
          <a:prstGeom prst="rect">
            <a:avLst/>
          </a:prstGeom>
          <a:ln w="0">
            <a:noFill/>
          </a:ln>
        </p:spPr>
      </p:pic>
      <p:pic>
        <p:nvPicPr>
          <p:cNvPr id="318" name="Image 11" descr="preencoded.png"/>
          <p:cNvPicPr/>
          <p:nvPr/>
        </p:nvPicPr>
        <p:blipFill>
          <a:blip r:embed="rId12"/>
          <a:stretch/>
        </p:blipFill>
        <p:spPr>
          <a:xfrm>
            <a:off x="914400" y="5391000"/>
            <a:ext cx="323640" cy="323640"/>
          </a:xfrm>
          <a:prstGeom prst="rect">
            <a:avLst/>
          </a:prstGeom>
          <a:ln w="0">
            <a:noFill/>
          </a:ln>
        </p:spPr>
      </p:pic>
      <p:pic>
        <p:nvPicPr>
          <p:cNvPr id="319" name="Image 12" descr="preencoded.png"/>
          <p:cNvPicPr/>
          <p:nvPr/>
        </p:nvPicPr>
        <p:blipFill>
          <a:blip r:embed="rId13"/>
          <a:stretch/>
        </p:blipFill>
        <p:spPr>
          <a:xfrm>
            <a:off x="914400" y="5753160"/>
            <a:ext cx="323640" cy="323640"/>
          </a:xfrm>
          <a:prstGeom prst="rect">
            <a:avLst/>
          </a:prstGeom>
          <a:ln w="0">
            <a:noFill/>
          </a:ln>
        </p:spPr>
      </p:pic>
      <p:pic>
        <p:nvPicPr>
          <p:cNvPr id="320" name="Image 13" descr="preencoded.png"/>
          <p:cNvPicPr/>
          <p:nvPr/>
        </p:nvPicPr>
        <p:blipFill>
          <a:blip r:embed="rId14"/>
          <a:stretch/>
        </p:blipFill>
        <p:spPr>
          <a:xfrm>
            <a:off x="6238800" y="2019240"/>
            <a:ext cx="5200200" cy="3638160"/>
          </a:xfrm>
          <a:prstGeom prst="rect">
            <a:avLst/>
          </a:prstGeom>
          <a:ln w="0">
            <a:noFill/>
          </a:ln>
        </p:spPr>
      </p:pic>
      <p:pic>
        <p:nvPicPr>
          <p:cNvPr id="321" name="Image 14" descr="preencoded.png"/>
          <p:cNvPicPr/>
          <p:nvPr/>
        </p:nvPicPr>
        <p:blipFill>
          <a:blip r:embed="rId15"/>
          <a:stretch/>
        </p:blipFill>
        <p:spPr>
          <a:xfrm>
            <a:off x="6248520" y="2028960"/>
            <a:ext cx="5181120" cy="3619080"/>
          </a:xfrm>
          <a:prstGeom prst="rect">
            <a:avLst/>
          </a:prstGeom>
          <a:ln w="0">
            <a:noFill/>
          </a:ln>
        </p:spPr>
      </p:pic>
      <p:pic>
        <p:nvPicPr>
          <p:cNvPr id="322" name="Image 15" descr="preencoded.png"/>
          <p:cNvPicPr/>
          <p:nvPr/>
        </p:nvPicPr>
        <p:blipFill>
          <a:blip r:embed="rId16"/>
          <a:stretch/>
        </p:blipFill>
        <p:spPr>
          <a:xfrm>
            <a:off x="6477120" y="4657680"/>
            <a:ext cx="4723920" cy="761760"/>
          </a:xfrm>
          <a:prstGeom prst="rect">
            <a:avLst/>
          </a:prstGeom>
          <a:ln w="0">
            <a:noFill/>
          </a:ln>
        </p:spPr>
      </p:pic>
      <p:pic>
        <p:nvPicPr>
          <p:cNvPr id="323" name="Image 16" descr="preencoded.png"/>
          <p:cNvPicPr/>
          <p:nvPr/>
        </p:nvPicPr>
        <p:blipFill>
          <a:blip r:embed="rId17"/>
          <a:stretch/>
        </p:blipFill>
        <p:spPr>
          <a:xfrm>
            <a:off x="6638760" y="4857840"/>
            <a:ext cx="95040" cy="95040"/>
          </a:xfrm>
          <a:prstGeom prst="rect">
            <a:avLst/>
          </a:prstGeom>
          <a:ln w="0">
            <a:noFill/>
          </a:ln>
        </p:spPr>
      </p:pic>
      <p:sp>
        <p:nvSpPr>
          <p:cNvPr id="324" name="Text 0"/>
          <p:cNvSpPr/>
          <p:nvPr/>
        </p:nvSpPr>
        <p:spPr>
          <a:xfrm>
            <a:off x="762120" y="762120"/>
            <a:ext cx="598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Future of Research with AI</a:t>
            </a:r>
            <a:endParaRPr b="0" lang="en-IN" sz="3400" spc="-1" strike="noStrike">
              <a:latin typeface="Arial"/>
            </a:endParaRPr>
          </a:p>
        </p:txBody>
      </p:sp>
      <p:sp>
        <p:nvSpPr>
          <p:cNvPr id="325" name="Text 1"/>
          <p:cNvSpPr/>
          <p:nvPr/>
        </p:nvSpPr>
        <p:spPr>
          <a:xfrm>
            <a:off x="762120" y="1447920"/>
            <a:ext cx="51811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b6b6b6"/>
                </a:solidFill>
                <a:latin typeface="Consolas"/>
                <a:ea typeface="Consolas"/>
              </a:rPr>
              <a:t>AI becomes a day-to-day research assistant that accelerates learning loops.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6" name="Text 2"/>
          <p:cNvSpPr/>
          <p:nvPr/>
        </p:nvSpPr>
        <p:spPr>
          <a:xfrm>
            <a:off x="990720" y="2295360"/>
            <a:ext cx="2085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Faster idea testing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327" name="Text 3"/>
          <p:cNvSpPr/>
          <p:nvPr/>
        </p:nvSpPr>
        <p:spPr>
          <a:xfrm>
            <a:off x="990720" y="2752560"/>
            <a:ext cx="2866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Faster strategy discovery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990720" y="3209760"/>
            <a:ext cx="4447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More time on judgment and risk checks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923760" y="4010040"/>
            <a:ext cx="4857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c1e328"/>
                </a:solidFill>
                <a:latin typeface="Consolas"/>
                <a:ea typeface="Consolas"/>
              </a:rPr>
              <a:t>Workflow Shift</a:t>
            </a:r>
            <a:endParaRPr b="0" lang="en-IN" sz="800" spc="-1" strike="noStrike">
              <a:latin typeface="Arial"/>
            </a:endParaRPr>
          </a:p>
        </p:txBody>
      </p:sp>
      <p:pic>
        <p:nvPicPr>
          <p:cNvPr id="330" name="Image 17" descr="preencoded.png"/>
          <p:cNvPicPr/>
          <p:nvPr/>
        </p:nvPicPr>
        <p:blipFill>
          <a:blip r:embed="rId18"/>
          <a:stretch/>
        </p:blipFill>
        <p:spPr>
          <a:xfrm>
            <a:off x="1028880" y="4410000"/>
            <a:ext cx="95040" cy="114120"/>
          </a:xfrm>
          <a:prstGeom prst="rect">
            <a:avLst/>
          </a:prstGeom>
          <a:ln w="0">
            <a:noFill/>
          </a:ln>
        </p:spPr>
      </p:pic>
      <p:sp>
        <p:nvSpPr>
          <p:cNvPr id="331" name="Text 6"/>
          <p:cNvSpPr/>
          <p:nvPr/>
        </p:nvSpPr>
        <p:spPr>
          <a:xfrm>
            <a:off x="1380960" y="4371840"/>
            <a:ext cx="129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Analyst questions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332" name="Image 18" descr="preencoded.png"/>
          <p:cNvPicPr/>
          <p:nvPr/>
        </p:nvPicPr>
        <p:blipFill>
          <a:blip r:embed="rId19"/>
          <a:stretch/>
        </p:blipFill>
        <p:spPr>
          <a:xfrm>
            <a:off x="1000080" y="4772160"/>
            <a:ext cx="151920" cy="114120"/>
          </a:xfrm>
          <a:prstGeom prst="rect">
            <a:avLst/>
          </a:prstGeom>
          <a:ln w="0">
            <a:noFill/>
          </a:ln>
        </p:spPr>
      </p:pic>
      <p:sp>
        <p:nvSpPr>
          <p:cNvPr id="333" name="Text 7"/>
          <p:cNvSpPr/>
          <p:nvPr/>
        </p:nvSpPr>
        <p:spPr>
          <a:xfrm>
            <a:off x="1380960" y="4734000"/>
            <a:ext cx="837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AI analysis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334" name="Image 19" descr="preencoded.png"/>
          <p:cNvPicPr/>
          <p:nvPr/>
        </p:nvPicPr>
        <p:blipFill>
          <a:blip r:embed="rId20"/>
          <a:stretch/>
        </p:blipFill>
        <p:spPr>
          <a:xfrm>
            <a:off x="1028880" y="5133960"/>
            <a:ext cx="95040" cy="114120"/>
          </a:xfrm>
          <a:prstGeom prst="rect">
            <a:avLst/>
          </a:prstGeom>
          <a:ln w="0">
            <a:noFill/>
          </a:ln>
        </p:spPr>
      </p:pic>
      <p:sp>
        <p:nvSpPr>
          <p:cNvPr id="335" name="Text 8"/>
          <p:cNvSpPr/>
          <p:nvPr/>
        </p:nvSpPr>
        <p:spPr>
          <a:xfrm>
            <a:off x="1380960" y="5095800"/>
            <a:ext cx="1066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Insights draft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336" name="Image 20" descr="preencoded.png"/>
          <p:cNvPicPr/>
          <p:nvPr/>
        </p:nvPicPr>
        <p:blipFill>
          <a:blip r:embed="rId21"/>
          <a:stretch/>
        </p:blipFill>
        <p:spPr>
          <a:xfrm>
            <a:off x="1019160" y="5495760"/>
            <a:ext cx="114120" cy="114120"/>
          </a:xfrm>
          <a:prstGeom prst="rect">
            <a:avLst/>
          </a:prstGeom>
          <a:ln w="0">
            <a:noFill/>
          </a:ln>
        </p:spPr>
      </p:pic>
      <p:sp>
        <p:nvSpPr>
          <p:cNvPr id="337" name="Text 9"/>
          <p:cNvSpPr/>
          <p:nvPr/>
        </p:nvSpPr>
        <p:spPr>
          <a:xfrm>
            <a:off x="1380960" y="5457960"/>
            <a:ext cx="12189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Human validation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338" name="Image 21" descr="preencoded.png"/>
          <p:cNvPicPr/>
          <p:nvPr/>
        </p:nvPicPr>
        <p:blipFill>
          <a:blip r:embed="rId22"/>
          <a:stretch/>
        </p:blipFill>
        <p:spPr>
          <a:xfrm>
            <a:off x="1019160" y="5857920"/>
            <a:ext cx="114120" cy="114120"/>
          </a:xfrm>
          <a:prstGeom prst="rect">
            <a:avLst/>
          </a:prstGeom>
          <a:ln w="0">
            <a:noFill/>
          </a:ln>
        </p:spPr>
      </p:pic>
      <p:sp>
        <p:nvSpPr>
          <p:cNvPr id="339" name="Text 10"/>
          <p:cNvSpPr/>
          <p:nvPr/>
        </p:nvSpPr>
        <p:spPr>
          <a:xfrm>
            <a:off x="1380960" y="5819760"/>
            <a:ext cx="914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c1e328"/>
                </a:solidFill>
                <a:latin typeface="Consolas"/>
                <a:ea typeface="Consolas"/>
              </a:rPr>
              <a:t>Final output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340" name="Image 22" descr="preencoded.png"/>
          <p:cNvPicPr/>
          <p:nvPr/>
        </p:nvPicPr>
        <p:blipFill>
          <a:blip r:embed="rId23"/>
          <a:stretch/>
        </p:blipFill>
        <p:spPr>
          <a:xfrm>
            <a:off x="6248520" y="2028960"/>
            <a:ext cx="5181120" cy="3619080"/>
          </a:xfrm>
          <a:prstGeom prst="rect">
            <a:avLst/>
          </a:prstGeom>
          <a:ln w="0">
            <a:noFill/>
          </a:ln>
        </p:spPr>
      </p:pic>
      <p:sp>
        <p:nvSpPr>
          <p:cNvPr id="341" name="Text 11"/>
          <p:cNvSpPr/>
          <p:nvPr/>
        </p:nvSpPr>
        <p:spPr>
          <a:xfrm>
            <a:off x="6838920" y="4829040"/>
            <a:ext cx="14839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c1e328"/>
                </a:solidFill>
                <a:latin typeface="Consolas"/>
                <a:ea typeface="Consolas"/>
              </a:rPr>
              <a:t>AI Assistant Active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42" name="Text 12"/>
          <p:cNvSpPr/>
          <p:nvPr/>
        </p:nvSpPr>
        <p:spPr>
          <a:xfrm>
            <a:off x="6648480" y="5057640"/>
            <a:ext cx="4381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Processing market signals • Risk assessment complete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43" name="Text 13"/>
          <p:cNvSpPr/>
          <p:nvPr/>
        </p:nvSpPr>
        <p:spPr>
          <a:xfrm>
            <a:off x="762120" y="6381720"/>
            <a:ext cx="1066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Consolas"/>
                <a:ea typeface="Consolas"/>
              </a:rPr>
              <a:t>09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45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46" name="Image 2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47" name="Image 3" descr="preencoded.png"/>
          <p:cNvPicPr/>
          <p:nvPr/>
        </p:nvPicPr>
        <p:blipFill>
          <a:blip r:embed="rId4"/>
          <a:stretch/>
        </p:blipFill>
        <p:spPr>
          <a:xfrm>
            <a:off x="5477040" y="3038400"/>
            <a:ext cx="1238040" cy="56880"/>
          </a:xfrm>
          <a:prstGeom prst="rect">
            <a:avLst/>
          </a:prstGeom>
          <a:ln w="0">
            <a:noFill/>
          </a:ln>
        </p:spPr>
      </p:pic>
      <p:pic>
        <p:nvPicPr>
          <p:cNvPr id="348" name="Image 4" descr="preencoded.png"/>
          <p:cNvPicPr/>
          <p:nvPr/>
        </p:nvPicPr>
        <p:blipFill>
          <a:blip r:embed="rId5"/>
          <a:stretch/>
        </p:blipFill>
        <p:spPr>
          <a:xfrm>
            <a:off x="3133800" y="4334040"/>
            <a:ext cx="5924160" cy="1066320"/>
          </a:xfrm>
          <a:prstGeom prst="rect">
            <a:avLst/>
          </a:prstGeom>
          <a:ln w="0">
            <a:noFill/>
          </a:ln>
        </p:spPr>
      </p:pic>
      <p:sp>
        <p:nvSpPr>
          <p:cNvPr id="349" name="Text 0"/>
          <p:cNvSpPr/>
          <p:nvPr/>
        </p:nvSpPr>
        <p:spPr>
          <a:xfrm>
            <a:off x="3300480" y="1676520"/>
            <a:ext cx="55908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0" spc="-1" strike="noStrike">
                <a:solidFill>
                  <a:srgbClr val="ffffff"/>
                </a:solidFill>
                <a:latin typeface="Arial"/>
                <a:ea typeface="Arial"/>
              </a:rPr>
              <a:t>Thank You</a:t>
            </a:r>
            <a:endParaRPr b="0" lang="en-IN" sz="8500" spc="-1" strike="noStrike"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5595840" y="3390840"/>
            <a:ext cx="99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b6b6b6"/>
                </a:solidFill>
                <a:latin typeface="Arial"/>
                <a:ea typeface="Arial"/>
              </a:rPr>
              <a:t>Q&amp;A</a:t>
            </a:r>
            <a:endParaRPr b="0" lang="en-IN" sz="3400" spc="-1" strike="noStrike">
              <a:latin typeface="Arial"/>
            </a:endParaRPr>
          </a:p>
        </p:txBody>
      </p:sp>
      <p:sp>
        <p:nvSpPr>
          <p:cNvPr id="351" name="Text 2"/>
          <p:cNvSpPr/>
          <p:nvPr/>
        </p:nvSpPr>
        <p:spPr>
          <a:xfrm>
            <a:off x="3867120" y="4686480"/>
            <a:ext cx="4457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Consolas"/>
                <a:ea typeface="Consolas"/>
              </a:rPr>
              <a:t>Contact: (add team email/Slack channel)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  <Words>0</Words>
  <Paragraphs>0</Paragraphs>
  <Company>dokie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2026-03-07T07:31:23Z</dcterms:created>
  <dc:creator>dokie</dc:creator>
  <dc:description/>
  <dc:language>en-IN</dc:language>
  <cp:lastModifiedBy/>
  <dcterms:modified xsi:type="dcterms:W3CDTF">2026-03-14T13:28:25Z</dcterms:modified>
  <cp:revision>2</cp:revision>
  <dc:subject>PptxGenJS Presentation</dc:subject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